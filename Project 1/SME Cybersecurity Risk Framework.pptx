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346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00" b="1" i="0">
                <a:solidFill>
                  <a:srgbClr val="1D3A8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0"/>
            <a:ext cx="20088393" cy="1256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00" b="1" i="0">
                <a:solidFill>
                  <a:srgbClr val="1D3A8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0"/>
            <a:ext cx="20088393" cy="1256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00" b="1" i="0">
                <a:solidFill>
                  <a:srgbClr val="1D3A8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1034046" y="2654103"/>
            <a:ext cx="8114665" cy="7374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23232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00" b="1" i="0">
                <a:solidFill>
                  <a:srgbClr val="1D3A8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9827" y="819081"/>
            <a:ext cx="15333980" cy="18249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00" b="1" i="0">
                <a:solidFill>
                  <a:srgbClr val="1D3A8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02505" y="1979385"/>
            <a:ext cx="14081760" cy="28816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09341" y="5175235"/>
            <a:ext cx="7413386" cy="80102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23239" y="5128116"/>
            <a:ext cx="6887224" cy="84814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06" y="0"/>
            <a:ext cx="20088393" cy="1256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621123" y="2699913"/>
            <a:ext cx="1083246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6240" algn="l"/>
                <a:tab pos="2618105" algn="l"/>
                <a:tab pos="3944620" algn="l"/>
                <a:tab pos="4851400" algn="l"/>
                <a:tab pos="6217920" algn="l"/>
                <a:tab pos="6585584" algn="l"/>
                <a:tab pos="8295640" algn="l"/>
              </a:tabLst>
            </a:pPr>
            <a:r>
              <a:rPr sz="2450" spc="45" dirty="0">
                <a:solidFill>
                  <a:srgbClr val="447EE4"/>
                </a:solidFill>
                <a:latin typeface="Arial MT"/>
                <a:cs typeface="Arial MT"/>
              </a:rPr>
              <a:t>A</a:t>
            </a:r>
            <a:r>
              <a:rPr sz="2450" dirty="0">
                <a:solidFill>
                  <a:srgbClr val="447EE4"/>
                </a:solidFill>
                <a:latin typeface="Arial MT"/>
                <a:cs typeface="Arial MT"/>
              </a:rPr>
              <a:t>	</a:t>
            </a:r>
            <a:r>
              <a:rPr sz="2450" dirty="0">
                <a:solidFill>
                  <a:srgbClr val="367EF4"/>
                </a:solidFill>
                <a:latin typeface="Arial MT"/>
                <a:cs typeface="Arial MT"/>
              </a:rPr>
              <a:t>P</a:t>
            </a:r>
            <a:r>
              <a:rPr sz="2450" spc="-390" dirty="0">
                <a:solidFill>
                  <a:srgbClr val="367EF4"/>
                </a:solidFill>
                <a:latin typeface="Arial MT"/>
                <a:cs typeface="Arial MT"/>
              </a:rPr>
              <a:t> </a:t>
            </a:r>
            <a:r>
              <a:rPr sz="2450" spc="210" dirty="0">
                <a:solidFill>
                  <a:srgbClr val="367EEF"/>
                </a:solidFill>
                <a:latin typeface="Arial MT"/>
                <a:cs typeface="Arial MT"/>
              </a:rPr>
              <a:t>RACT</a:t>
            </a:r>
            <a:r>
              <a:rPr sz="2450" spc="-375" dirty="0">
                <a:solidFill>
                  <a:srgbClr val="367EEF"/>
                </a:solidFill>
                <a:latin typeface="Arial MT"/>
                <a:cs typeface="Arial MT"/>
              </a:rPr>
              <a:t> </a:t>
            </a:r>
            <a:r>
              <a:rPr sz="2450" spc="185" dirty="0">
                <a:solidFill>
                  <a:srgbClr val="4485D6"/>
                </a:solidFill>
                <a:latin typeface="Arial MT"/>
                <a:cs typeface="Arial MT"/>
              </a:rPr>
              <a:t>I</a:t>
            </a:r>
            <a:r>
              <a:rPr sz="2450" spc="185" dirty="0">
                <a:solidFill>
                  <a:srgbClr val="3B89DB"/>
                </a:solidFill>
                <a:latin typeface="Arial MT"/>
                <a:cs typeface="Arial MT"/>
              </a:rPr>
              <a:t>CA</a:t>
            </a:r>
            <a:r>
              <a:rPr sz="2450" spc="-210" dirty="0">
                <a:solidFill>
                  <a:srgbClr val="3B89DB"/>
                </a:solidFill>
                <a:latin typeface="Arial MT"/>
                <a:cs typeface="Arial MT"/>
              </a:rPr>
              <a:t> </a:t>
            </a:r>
            <a:r>
              <a:rPr sz="2450" spc="55" dirty="0">
                <a:solidFill>
                  <a:srgbClr val="3A80FF"/>
                </a:solidFill>
                <a:latin typeface="Arial MT"/>
                <a:cs typeface="Arial MT"/>
              </a:rPr>
              <a:t>L</a:t>
            </a:r>
            <a:r>
              <a:rPr sz="2450" dirty="0">
                <a:solidFill>
                  <a:srgbClr val="3A80FF"/>
                </a:solidFill>
                <a:latin typeface="Arial MT"/>
                <a:cs typeface="Arial MT"/>
              </a:rPr>
              <a:t>	</a:t>
            </a:r>
            <a:r>
              <a:rPr sz="2450" spc="-65" dirty="0">
                <a:solidFill>
                  <a:srgbClr val="4D79E2"/>
                </a:solidFill>
                <a:latin typeface="Arial MT"/>
                <a:cs typeface="Arial MT"/>
              </a:rPr>
              <a:t>G</a:t>
            </a:r>
            <a:r>
              <a:rPr sz="2450" spc="-355" dirty="0">
                <a:solidFill>
                  <a:srgbClr val="4D79E2"/>
                </a:solidFill>
                <a:latin typeface="Arial MT"/>
                <a:cs typeface="Arial MT"/>
              </a:rPr>
              <a:t> </a:t>
            </a:r>
            <a:r>
              <a:rPr sz="2450" spc="85" dirty="0">
                <a:solidFill>
                  <a:srgbClr val="4980D4"/>
                </a:solidFill>
                <a:latin typeface="Arial MT"/>
                <a:cs typeface="Arial MT"/>
              </a:rPr>
              <a:t>U</a:t>
            </a:r>
            <a:r>
              <a:rPr sz="2450" spc="-350" dirty="0">
                <a:solidFill>
                  <a:srgbClr val="4980D4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4282E2"/>
                </a:solidFill>
                <a:latin typeface="Arial MT"/>
                <a:cs typeface="Arial MT"/>
              </a:rPr>
              <a:t>I</a:t>
            </a:r>
            <a:r>
              <a:rPr sz="2450" spc="-365" dirty="0">
                <a:solidFill>
                  <a:srgbClr val="4282E2"/>
                </a:solidFill>
                <a:latin typeface="Arial MT"/>
                <a:cs typeface="Arial MT"/>
              </a:rPr>
              <a:t> </a:t>
            </a:r>
            <a:r>
              <a:rPr sz="2450" spc="85" dirty="0">
                <a:solidFill>
                  <a:srgbClr val="3A80FF"/>
                </a:solidFill>
                <a:latin typeface="Arial MT"/>
                <a:cs typeface="Arial MT"/>
              </a:rPr>
              <a:t>D</a:t>
            </a:r>
            <a:r>
              <a:rPr sz="2450" spc="-190" dirty="0">
                <a:solidFill>
                  <a:srgbClr val="3A80FF"/>
                </a:solidFill>
                <a:latin typeface="Arial MT"/>
                <a:cs typeface="Arial MT"/>
              </a:rPr>
              <a:t> </a:t>
            </a:r>
            <a:r>
              <a:rPr sz="2450" spc="-50" dirty="0">
                <a:solidFill>
                  <a:srgbClr val="3674E8"/>
                </a:solidFill>
                <a:latin typeface="Arial MT"/>
                <a:cs typeface="Arial MT"/>
              </a:rPr>
              <a:t>E</a:t>
            </a:r>
            <a:r>
              <a:rPr sz="2450" dirty="0">
                <a:solidFill>
                  <a:srgbClr val="3674E8"/>
                </a:solidFill>
                <a:latin typeface="Arial MT"/>
                <a:cs typeface="Arial MT"/>
              </a:rPr>
              <a:t>	</a:t>
            </a:r>
            <a:r>
              <a:rPr sz="2450" spc="235" dirty="0">
                <a:solidFill>
                  <a:srgbClr val="2479F6"/>
                </a:solidFill>
                <a:latin typeface="Arial MT"/>
                <a:cs typeface="Arial MT"/>
              </a:rPr>
              <a:t>F</a:t>
            </a:r>
            <a:r>
              <a:rPr sz="2450" spc="235" dirty="0">
                <a:solidFill>
                  <a:srgbClr val="4980CF"/>
                </a:solidFill>
                <a:latin typeface="Arial MT"/>
                <a:cs typeface="Arial MT"/>
              </a:rPr>
              <a:t>O</a:t>
            </a:r>
            <a:r>
              <a:rPr sz="2450" spc="-360" dirty="0">
                <a:solidFill>
                  <a:srgbClr val="4980CF"/>
                </a:solidFill>
                <a:latin typeface="Arial MT"/>
                <a:cs typeface="Arial MT"/>
              </a:rPr>
              <a:t> </a:t>
            </a:r>
            <a:r>
              <a:rPr sz="2450" spc="-50" dirty="0">
                <a:solidFill>
                  <a:srgbClr val="3880F9"/>
                </a:solidFill>
                <a:latin typeface="Arial MT"/>
                <a:cs typeface="Arial MT"/>
              </a:rPr>
              <a:t>R</a:t>
            </a:r>
            <a:r>
              <a:rPr sz="2450" dirty="0">
                <a:solidFill>
                  <a:srgbClr val="3880F9"/>
                </a:solidFill>
                <a:latin typeface="Arial MT"/>
                <a:cs typeface="Arial MT"/>
              </a:rPr>
              <a:t>	</a:t>
            </a:r>
            <a:r>
              <a:rPr sz="2450" spc="155" dirty="0">
                <a:solidFill>
                  <a:srgbClr val="5785DA"/>
                </a:solidFill>
                <a:latin typeface="Arial MT"/>
                <a:cs typeface="Arial MT"/>
              </a:rPr>
              <a:t>S</a:t>
            </a:r>
            <a:r>
              <a:rPr sz="2450" spc="155" dirty="0">
                <a:solidFill>
                  <a:srgbClr val="3679FB"/>
                </a:solidFill>
                <a:latin typeface="Arial MT"/>
                <a:cs typeface="Arial MT"/>
              </a:rPr>
              <a:t>M</a:t>
            </a:r>
            <a:r>
              <a:rPr sz="2450" spc="-370" dirty="0">
                <a:solidFill>
                  <a:srgbClr val="3679FB"/>
                </a:solidFill>
                <a:latin typeface="Arial MT"/>
                <a:cs typeface="Arial MT"/>
              </a:rPr>
              <a:t> </a:t>
            </a:r>
            <a:r>
              <a:rPr sz="2450" spc="95" dirty="0">
                <a:solidFill>
                  <a:srgbClr val="4D8AFB"/>
                </a:solidFill>
                <a:latin typeface="Arial MT"/>
                <a:cs typeface="Arial MT"/>
              </a:rPr>
              <a:t>A</a:t>
            </a:r>
            <a:r>
              <a:rPr sz="2450" spc="-260" dirty="0">
                <a:solidFill>
                  <a:srgbClr val="4D8AFB"/>
                </a:solidFill>
                <a:latin typeface="Arial MT"/>
                <a:cs typeface="Arial MT"/>
              </a:rPr>
              <a:t> </a:t>
            </a:r>
            <a:r>
              <a:rPr sz="2450" spc="190" dirty="0">
                <a:solidFill>
                  <a:srgbClr val="3670F6"/>
                </a:solidFill>
                <a:latin typeface="Arial MT"/>
                <a:cs typeface="Arial MT"/>
              </a:rPr>
              <a:t>L</a:t>
            </a:r>
            <a:r>
              <a:rPr sz="2450" spc="190" dirty="0">
                <a:solidFill>
                  <a:srgbClr val="2B7BFF"/>
                </a:solidFill>
                <a:latin typeface="Arial MT"/>
                <a:cs typeface="Arial MT"/>
              </a:rPr>
              <a:t>L</a:t>
            </a:r>
            <a:r>
              <a:rPr sz="2450" dirty="0">
                <a:solidFill>
                  <a:srgbClr val="2B7BFF"/>
                </a:solidFill>
                <a:latin typeface="Arial MT"/>
                <a:cs typeface="Arial MT"/>
              </a:rPr>
              <a:t>	</a:t>
            </a:r>
            <a:r>
              <a:rPr sz="2450" spc="-50" dirty="0">
                <a:solidFill>
                  <a:srgbClr val="387EF4"/>
                </a:solidFill>
                <a:latin typeface="Arial MT"/>
                <a:cs typeface="Arial MT"/>
              </a:rPr>
              <a:t>&amp;</a:t>
            </a:r>
            <a:r>
              <a:rPr sz="2450" dirty="0">
                <a:solidFill>
                  <a:srgbClr val="387EF4"/>
                </a:solidFill>
                <a:latin typeface="Arial MT"/>
                <a:cs typeface="Arial MT"/>
              </a:rPr>
              <a:t>	</a:t>
            </a:r>
            <a:r>
              <a:rPr sz="2450" spc="180" dirty="0">
                <a:solidFill>
                  <a:srgbClr val="3679FB"/>
                </a:solidFill>
                <a:latin typeface="Arial MT"/>
                <a:cs typeface="Arial MT"/>
              </a:rPr>
              <a:t>M</a:t>
            </a:r>
            <a:r>
              <a:rPr sz="2450" spc="-315" dirty="0">
                <a:solidFill>
                  <a:srgbClr val="3679FB"/>
                </a:solidFill>
                <a:latin typeface="Arial MT"/>
                <a:cs typeface="Arial MT"/>
              </a:rPr>
              <a:t> </a:t>
            </a:r>
            <a:r>
              <a:rPr sz="2450" spc="65" dirty="0">
                <a:solidFill>
                  <a:srgbClr val="2F79E2"/>
                </a:solidFill>
                <a:latin typeface="Arial MT"/>
                <a:cs typeface="Arial MT"/>
              </a:rPr>
              <a:t>E</a:t>
            </a:r>
            <a:r>
              <a:rPr sz="2450" spc="65" dirty="0">
                <a:solidFill>
                  <a:srgbClr val="2680FD"/>
                </a:solidFill>
                <a:latin typeface="Arial MT"/>
                <a:cs typeface="Arial MT"/>
              </a:rPr>
              <a:t>D</a:t>
            </a:r>
            <a:r>
              <a:rPr sz="2450" spc="-80" dirty="0">
                <a:solidFill>
                  <a:srgbClr val="2680FD"/>
                </a:solidFill>
                <a:latin typeface="Arial MT"/>
                <a:cs typeface="Arial MT"/>
              </a:rPr>
              <a:t> </a:t>
            </a:r>
            <a:r>
              <a:rPr sz="2450" spc="-30" dirty="0">
                <a:solidFill>
                  <a:srgbClr val="4282E2"/>
                </a:solidFill>
                <a:latin typeface="Arial MT"/>
                <a:cs typeface="Arial MT"/>
              </a:rPr>
              <a:t>I</a:t>
            </a:r>
            <a:r>
              <a:rPr sz="2450" spc="-315" dirty="0">
                <a:solidFill>
                  <a:srgbClr val="4282E2"/>
                </a:solidFill>
                <a:latin typeface="Arial MT"/>
                <a:cs typeface="Arial MT"/>
              </a:rPr>
              <a:t> </a:t>
            </a:r>
            <a:r>
              <a:rPr sz="2450" spc="85" dirty="0">
                <a:solidFill>
                  <a:srgbClr val="4F77D4"/>
                </a:solidFill>
                <a:latin typeface="Arial MT"/>
                <a:cs typeface="Arial MT"/>
              </a:rPr>
              <a:t>U</a:t>
            </a:r>
            <a:r>
              <a:rPr sz="2450" spc="-310" dirty="0">
                <a:solidFill>
                  <a:srgbClr val="4F77D4"/>
                </a:solidFill>
                <a:latin typeface="Arial MT"/>
                <a:cs typeface="Arial MT"/>
              </a:rPr>
              <a:t> </a:t>
            </a:r>
            <a:r>
              <a:rPr sz="2450" spc="130" dirty="0">
                <a:solidFill>
                  <a:srgbClr val="3883FF"/>
                </a:solidFill>
                <a:latin typeface="Arial MT"/>
                <a:cs typeface="Arial MT"/>
              </a:rPr>
              <a:t>M</a:t>
            </a:r>
            <a:r>
              <a:rPr sz="2450" dirty="0">
                <a:solidFill>
                  <a:srgbClr val="3883FF"/>
                </a:solidFill>
                <a:latin typeface="Arial MT"/>
                <a:cs typeface="Arial MT"/>
              </a:rPr>
              <a:t>	</a:t>
            </a:r>
            <a:r>
              <a:rPr sz="2450" spc="-75" dirty="0">
                <a:solidFill>
                  <a:srgbClr val="2F79E2"/>
                </a:solidFill>
                <a:latin typeface="Arial MT"/>
                <a:cs typeface="Arial MT"/>
              </a:rPr>
              <a:t>E</a:t>
            </a:r>
            <a:r>
              <a:rPr sz="2450" spc="-405" dirty="0">
                <a:solidFill>
                  <a:srgbClr val="2F79E2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3A89FB"/>
                </a:solidFill>
                <a:latin typeface="Arial MT"/>
                <a:cs typeface="Arial MT"/>
              </a:rPr>
              <a:t>NT</a:t>
            </a:r>
            <a:r>
              <a:rPr sz="2450" spc="10" dirty="0">
                <a:solidFill>
                  <a:srgbClr val="3A89FB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367CE8"/>
                </a:solidFill>
                <a:latin typeface="Arial MT"/>
                <a:cs typeface="Arial MT"/>
              </a:rPr>
              <a:t>E</a:t>
            </a:r>
            <a:r>
              <a:rPr sz="2450" dirty="0">
                <a:solidFill>
                  <a:srgbClr val="467BFD"/>
                </a:solidFill>
                <a:latin typeface="Arial MT"/>
                <a:cs typeface="Arial MT"/>
              </a:rPr>
              <a:t>R</a:t>
            </a:r>
            <a:r>
              <a:rPr sz="2450" spc="-170" dirty="0">
                <a:solidFill>
                  <a:srgbClr val="467BFD"/>
                </a:solidFill>
                <a:latin typeface="Arial MT"/>
                <a:cs typeface="Arial MT"/>
              </a:rPr>
              <a:t> </a:t>
            </a:r>
            <a:r>
              <a:rPr sz="2450" spc="60" dirty="0">
                <a:solidFill>
                  <a:srgbClr val="5982EB"/>
                </a:solidFill>
                <a:latin typeface="Arial MT"/>
                <a:cs typeface="Arial MT"/>
              </a:rPr>
              <a:t>P</a:t>
            </a:r>
            <a:r>
              <a:rPr sz="2450" spc="60" dirty="0">
                <a:solidFill>
                  <a:srgbClr val="3B85CA"/>
                </a:solidFill>
                <a:latin typeface="Arial MT"/>
                <a:cs typeface="Arial MT"/>
              </a:rPr>
              <a:t>R</a:t>
            </a:r>
            <a:r>
              <a:rPr sz="2450" spc="-204" dirty="0">
                <a:solidFill>
                  <a:srgbClr val="3B85CA"/>
                </a:solidFill>
                <a:latin typeface="Arial MT"/>
                <a:cs typeface="Arial MT"/>
              </a:rPr>
              <a:t> </a:t>
            </a:r>
            <a:r>
              <a:rPr sz="2450" spc="-75" dirty="0">
                <a:solidFill>
                  <a:srgbClr val="497EE8"/>
                </a:solidFill>
                <a:latin typeface="Arial MT"/>
                <a:cs typeface="Arial MT"/>
              </a:rPr>
              <a:t>I</a:t>
            </a:r>
            <a:r>
              <a:rPr sz="2450" spc="-310" dirty="0">
                <a:solidFill>
                  <a:srgbClr val="497EE8"/>
                </a:solidFill>
                <a:latin typeface="Arial MT"/>
                <a:cs typeface="Arial MT"/>
              </a:rPr>
              <a:t> </a:t>
            </a:r>
            <a:r>
              <a:rPr sz="2450" spc="-170" dirty="0">
                <a:solidFill>
                  <a:srgbClr val="4D82DF"/>
                </a:solidFill>
                <a:latin typeface="Arial MT"/>
                <a:cs typeface="Arial MT"/>
              </a:rPr>
              <a:t>S</a:t>
            </a:r>
            <a:r>
              <a:rPr sz="2450" spc="-395" dirty="0">
                <a:solidFill>
                  <a:srgbClr val="4D82DF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4B7EE4"/>
                </a:solidFill>
                <a:latin typeface="Arial MT"/>
                <a:cs typeface="Arial MT"/>
              </a:rPr>
              <a:t>ES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299525" y="3272540"/>
            <a:ext cx="11421110" cy="1596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300" b="0" spc="-975" dirty="0">
                <a:solidFill>
                  <a:srgbClr val="1F3A89"/>
                </a:solidFill>
                <a:latin typeface="Arial Black"/>
                <a:cs typeface="Arial Black"/>
              </a:rPr>
              <a:t>Cybersecurity</a:t>
            </a:r>
            <a:r>
              <a:rPr sz="10300" b="0" spc="110" dirty="0">
                <a:solidFill>
                  <a:srgbClr val="1F3A89"/>
                </a:solidFill>
                <a:latin typeface="Arial Black"/>
                <a:cs typeface="Arial Black"/>
              </a:rPr>
              <a:t> </a:t>
            </a:r>
            <a:r>
              <a:rPr sz="10300" b="0" spc="-1080" dirty="0">
                <a:solidFill>
                  <a:srgbClr val="1D3B8A"/>
                </a:solidFill>
                <a:latin typeface="Arial Black"/>
                <a:cs typeface="Arial Black"/>
              </a:rPr>
              <a:t>Risk</a:t>
            </a:r>
            <a:endParaRPr sz="103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97318" y="6499536"/>
            <a:ext cx="9911080" cy="673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50" spc="55" dirty="0">
                <a:solidFill>
                  <a:srgbClr val="4D5B6B"/>
                </a:solidFill>
                <a:latin typeface="Arial MT"/>
                <a:cs typeface="Arial MT"/>
              </a:rPr>
              <a:t>Developing</a:t>
            </a:r>
            <a:r>
              <a:rPr sz="4250" spc="465" dirty="0">
                <a:solidFill>
                  <a:srgbClr val="4D5B6B"/>
                </a:solidFill>
                <a:latin typeface="Arial MT"/>
                <a:cs typeface="Arial MT"/>
              </a:rPr>
              <a:t> </a:t>
            </a:r>
            <a:r>
              <a:rPr sz="4250" spc="70" dirty="0">
                <a:solidFill>
                  <a:srgbClr val="465767"/>
                </a:solidFill>
                <a:latin typeface="Arial MT"/>
                <a:cs typeface="Arial MT"/>
              </a:rPr>
              <a:t>Actionable</a:t>
            </a:r>
            <a:r>
              <a:rPr sz="4250" spc="475" dirty="0">
                <a:solidFill>
                  <a:srgbClr val="465767"/>
                </a:solidFill>
                <a:latin typeface="Arial MT"/>
                <a:cs typeface="Arial MT"/>
              </a:rPr>
              <a:t> </a:t>
            </a:r>
            <a:r>
              <a:rPr sz="4250" dirty="0">
                <a:solidFill>
                  <a:srgbClr val="525252"/>
                </a:solidFill>
                <a:latin typeface="Arial MT"/>
                <a:cs typeface="Arial MT"/>
              </a:rPr>
              <a:t>Models</a:t>
            </a:r>
            <a:r>
              <a:rPr sz="4250" spc="105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4250" dirty="0">
                <a:solidFill>
                  <a:srgbClr val="465467"/>
                </a:solidFill>
                <a:latin typeface="Arial MT"/>
                <a:cs typeface="Arial MT"/>
              </a:rPr>
              <a:t>for</a:t>
            </a:r>
            <a:r>
              <a:rPr sz="4250" spc="180" dirty="0">
                <a:solidFill>
                  <a:srgbClr val="465467"/>
                </a:solidFill>
                <a:latin typeface="Arial MT"/>
                <a:cs typeface="Arial MT"/>
              </a:rPr>
              <a:t> </a:t>
            </a:r>
            <a:r>
              <a:rPr sz="4250" spc="-105" dirty="0">
                <a:solidFill>
                  <a:srgbClr val="495262"/>
                </a:solidFill>
                <a:latin typeface="Arial MT"/>
                <a:cs typeface="Arial MT"/>
              </a:rPr>
              <a:t>SMEs</a:t>
            </a:r>
            <a:endParaRPr sz="42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73732" y="8340449"/>
            <a:ext cx="448183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221740" algn="l"/>
                <a:tab pos="1726564" algn="l"/>
                <a:tab pos="4059554" algn="l"/>
                <a:tab pos="4331335" algn="l"/>
              </a:tabLst>
            </a:pPr>
            <a:r>
              <a:rPr sz="2050" spc="80" dirty="0">
                <a:solidFill>
                  <a:srgbClr val="1A3B83"/>
                </a:solidFill>
                <a:latin typeface="Arial MT"/>
                <a:cs typeface="Arial MT"/>
              </a:rPr>
              <a:t>Securi</a:t>
            </a:r>
            <a:r>
              <a:rPr sz="2050" spc="375" dirty="0">
                <a:solidFill>
                  <a:srgbClr val="1A3B83"/>
                </a:solidFill>
                <a:latin typeface="Arial MT"/>
                <a:cs typeface="Arial MT"/>
              </a:rPr>
              <a:t> </a:t>
            </a:r>
            <a:r>
              <a:rPr sz="2050" spc="40" dirty="0">
                <a:solidFill>
                  <a:srgbClr val="15418C"/>
                </a:solidFill>
                <a:latin typeface="Arial MT"/>
                <a:cs typeface="Arial MT"/>
              </a:rPr>
              <a:t>y</a:t>
            </a:r>
            <a:r>
              <a:rPr sz="2050" dirty="0">
                <a:solidFill>
                  <a:srgbClr val="15418C"/>
                </a:solidFill>
                <a:latin typeface="Arial MT"/>
                <a:cs typeface="Arial MT"/>
              </a:rPr>
              <a:t>	</a:t>
            </a:r>
            <a:r>
              <a:rPr sz="2050" spc="-25" dirty="0">
                <a:solidFill>
                  <a:srgbClr val="1A2F85"/>
                </a:solidFill>
                <a:latin typeface="Arial MT"/>
                <a:cs typeface="Arial MT"/>
              </a:rPr>
              <a:t>Si</a:t>
            </a:r>
            <a:r>
              <a:rPr sz="2050" dirty="0">
                <a:solidFill>
                  <a:srgbClr val="1A2F85"/>
                </a:solidFill>
                <a:latin typeface="Arial MT"/>
                <a:cs typeface="Arial MT"/>
              </a:rPr>
              <a:t>	</a:t>
            </a:r>
            <a:r>
              <a:rPr sz="2050" spc="160" dirty="0">
                <a:solidFill>
                  <a:srgbClr val="1D3A8E"/>
                </a:solidFill>
                <a:latin typeface="Arial MT"/>
                <a:cs typeface="Arial MT"/>
              </a:rPr>
              <a:t>plici</a:t>
            </a:r>
            <a:r>
              <a:rPr sz="2050" spc="260" dirty="0">
                <a:solidFill>
                  <a:srgbClr val="1D3A8E"/>
                </a:solidFill>
                <a:latin typeface="Arial MT"/>
                <a:cs typeface="Arial MT"/>
              </a:rPr>
              <a:t> </a:t>
            </a:r>
            <a:r>
              <a:rPr sz="2050" spc="235" dirty="0">
                <a:solidFill>
                  <a:srgbClr val="1D3A8E"/>
                </a:solidFill>
                <a:latin typeface="Arial MT"/>
                <a:cs typeface="Arial MT"/>
              </a:rPr>
              <a:t>y</a:t>
            </a:r>
            <a:r>
              <a:rPr sz="2050" spc="420" dirty="0">
                <a:solidFill>
                  <a:srgbClr val="1D3A8E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083D89"/>
                </a:solidFill>
                <a:latin typeface="Arial MT"/>
                <a:cs typeface="Arial MT"/>
              </a:rPr>
              <a:t>Sus</a:t>
            </a:r>
            <a:r>
              <a:rPr sz="2050" spc="434" dirty="0">
                <a:solidFill>
                  <a:srgbClr val="083D89"/>
                </a:solidFill>
                <a:latin typeface="Arial MT"/>
                <a:cs typeface="Arial MT"/>
              </a:rPr>
              <a:t> </a:t>
            </a:r>
            <a:r>
              <a:rPr sz="2050" spc="55" dirty="0">
                <a:solidFill>
                  <a:srgbClr val="113D9A"/>
                </a:solidFill>
                <a:latin typeface="Arial MT"/>
                <a:cs typeface="Arial MT"/>
              </a:rPr>
              <a:t>a</a:t>
            </a:r>
            <a:r>
              <a:rPr sz="2050" spc="95" dirty="0">
                <a:solidFill>
                  <a:srgbClr val="113D9A"/>
                </a:solidFill>
                <a:latin typeface="Arial MT"/>
                <a:cs typeface="Arial MT"/>
              </a:rPr>
              <a:t> </a:t>
            </a:r>
            <a:r>
              <a:rPr sz="2050" spc="25" dirty="0">
                <a:solidFill>
                  <a:srgbClr val="1D3A8E"/>
                </a:solidFill>
                <a:latin typeface="Arial MT"/>
                <a:cs typeface="Arial MT"/>
              </a:rPr>
              <a:t>na</a:t>
            </a:r>
            <a:r>
              <a:rPr sz="2050" dirty="0">
                <a:solidFill>
                  <a:srgbClr val="1D3A8E"/>
                </a:solidFill>
                <a:latin typeface="Arial MT"/>
                <a:cs typeface="Arial MT"/>
              </a:rPr>
              <a:t>	</a:t>
            </a:r>
            <a:r>
              <a:rPr sz="2050" spc="-50" dirty="0">
                <a:solidFill>
                  <a:srgbClr val="1A3482"/>
                </a:solidFill>
                <a:latin typeface="Arial MT"/>
                <a:cs typeface="Arial MT"/>
              </a:rPr>
              <a:t>I</a:t>
            </a:r>
            <a:r>
              <a:rPr sz="2050" dirty="0">
                <a:solidFill>
                  <a:srgbClr val="1A3482"/>
                </a:solidFill>
                <a:latin typeface="Arial MT"/>
                <a:cs typeface="Arial MT"/>
              </a:rPr>
              <a:t>	</a:t>
            </a:r>
            <a:r>
              <a:rPr sz="2050" dirty="0">
                <a:solidFill>
                  <a:srgbClr val="15418C"/>
                </a:solidFill>
                <a:latin typeface="Arial MT"/>
                <a:cs typeface="Arial MT"/>
              </a:rPr>
              <a:t>y</a:t>
            </a:r>
            <a:endParaRPr sz="2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0"/>
            <a:ext cx="20088393" cy="1256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868688" y="4232855"/>
            <a:ext cx="353392" cy="31412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578029" y="4232855"/>
            <a:ext cx="298420" cy="31412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28130" y="570397"/>
            <a:ext cx="14868525" cy="9093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125" dirty="0">
                <a:solidFill>
                  <a:srgbClr val="1A3D83"/>
                </a:solidFill>
                <a:latin typeface="Arial MT"/>
                <a:cs typeface="Arial MT"/>
              </a:rPr>
              <a:t>The</a:t>
            </a:r>
            <a:r>
              <a:rPr b="0" spc="-225" dirty="0">
                <a:solidFill>
                  <a:srgbClr val="1A3D83"/>
                </a:solidFill>
                <a:latin typeface="Arial MT"/>
                <a:cs typeface="Arial MT"/>
              </a:rPr>
              <a:t> </a:t>
            </a:r>
            <a:r>
              <a:rPr b="0" spc="180" dirty="0">
                <a:solidFill>
                  <a:srgbClr val="1D3B82"/>
                </a:solidFill>
                <a:latin typeface="Arial MT"/>
                <a:cs typeface="Arial MT"/>
              </a:rPr>
              <a:t>Context:</a:t>
            </a:r>
            <a:r>
              <a:rPr b="0" spc="-65" dirty="0">
                <a:solidFill>
                  <a:srgbClr val="1D3B82"/>
                </a:solidFill>
                <a:latin typeface="Arial MT"/>
                <a:cs typeface="Arial MT"/>
              </a:rPr>
              <a:t> </a:t>
            </a:r>
            <a:r>
              <a:rPr b="0" spc="270" dirty="0">
                <a:solidFill>
                  <a:srgbClr val="1A3B90"/>
                </a:solidFill>
                <a:latin typeface="Arial MT"/>
                <a:cs typeface="Arial MT"/>
              </a:rPr>
              <a:t>Why</a:t>
            </a:r>
            <a:r>
              <a:rPr b="0" spc="204" dirty="0">
                <a:solidFill>
                  <a:srgbClr val="1A3B90"/>
                </a:solidFill>
                <a:latin typeface="Arial MT"/>
                <a:cs typeface="Arial MT"/>
              </a:rPr>
              <a:t> </a:t>
            </a:r>
            <a:r>
              <a:rPr b="0" spc="-140" dirty="0">
                <a:solidFill>
                  <a:srgbClr val="1D4185"/>
                </a:solidFill>
                <a:latin typeface="Arial MT"/>
                <a:cs typeface="Arial MT"/>
              </a:rPr>
              <a:t>SMEs</a:t>
            </a:r>
            <a:r>
              <a:rPr b="0" spc="-180" dirty="0">
                <a:solidFill>
                  <a:srgbClr val="1D4185"/>
                </a:solidFill>
                <a:latin typeface="Arial MT"/>
                <a:cs typeface="Arial MT"/>
              </a:rPr>
              <a:t> </a:t>
            </a:r>
            <a:r>
              <a:rPr b="0" spc="160" dirty="0">
                <a:solidFill>
                  <a:srgbClr val="1D3B87"/>
                </a:solidFill>
                <a:latin typeface="Arial MT"/>
                <a:cs typeface="Arial MT"/>
              </a:rPr>
              <a:t>are</a:t>
            </a:r>
            <a:r>
              <a:rPr b="0" spc="-180" dirty="0">
                <a:solidFill>
                  <a:srgbClr val="1D3B87"/>
                </a:solidFill>
                <a:latin typeface="Arial MT"/>
                <a:cs typeface="Arial MT"/>
              </a:rPr>
              <a:t> </a:t>
            </a:r>
            <a:r>
              <a:rPr b="0" spc="265" dirty="0">
                <a:solidFill>
                  <a:srgbClr val="183B7E"/>
                </a:solidFill>
                <a:latin typeface="Arial MT"/>
                <a:cs typeface="Arial MT"/>
              </a:rPr>
              <a:t>Prime</a:t>
            </a:r>
            <a:r>
              <a:rPr b="0" spc="-204" dirty="0">
                <a:solidFill>
                  <a:srgbClr val="183B7E"/>
                </a:solidFill>
                <a:latin typeface="Arial MT"/>
                <a:cs typeface="Arial MT"/>
              </a:rPr>
              <a:t> </a:t>
            </a:r>
            <a:r>
              <a:rPr b="0" spc="155" dirty="0">
                <a:solidFill>
                  <a:srgbClr val="1D3B83"/>
                </a:solidFill>
                <a:latin typeface="Arial MT"/>
                <a:cs typeface="Arial MT"/>
              </a:rPr>
              <a:t>Targets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47375" y="2777790"/>
            <a:ext cx="8204200" cy="2028189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 indent="6350">
              <a:lnSpc>
                <a:spcPct val="129299"/>
              </a:lnSpc>
              <a:spcBef>
                <a:spcPts val="30"/>
              </a:spcBef>
              <a:tabLst>
                <a:tab pos="4694555" algn="l"/>
              </a:tabLst>
            </a:pPr>
            <a:r>
              <a:rPr sz="2550" dirty="0">
                <a:solidFill>
                  <a:srgbClr val="525252"/>
                </a:solidFill>
                <a:latin typeface="Arial MT"/>
                <a:cs typeface="Arial MT"/>
              </a:rPr>
              <a:t>Small</a:t>
            </a:r>
            <a:r>
              <a:rPr sz="2550" spc="195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365977"/>
                </a:solidFill>
                <a:latin typeface="Arial MT"/>
                <a:cs typeface="Arial MT"/>
              </a:rPr>
              <a:t>and</a:t>
            </a:r>
            <a:r>
              <a:rPr sz="2550" spc="45" dirty="0">
                <a:solidFill>
                  <a:srgbClr val="365977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B4B4B"/>
                </a:solidFill>
                <a:latin typeface="Arial MT"/>
                <a:cs typeface="Arial MT"/>
              </a:rPr>
              <a:t>Medium</a:t>
            </a:r>
            <a:r>
              <a:rPr sz="2550" spc="31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484848"/>
                </a:solidFill>
                <a:latin typeface="Arial MT"/>
                <a:cs typeface="Arial MT"/>
              </a:rPr>
              <a:t>Enterprises</a:t>
            </a:r>
            <a:r>
              <a:rPr sz="2550" dirty="0">
                <a:solidFill>
                  <a:srgbClr val="484848"/>
                </a:solidFill>
                <a:latin typeface="Arial MT"/>
                <a:cs typeface="Arial MT"/>
              </a:rPr>
              <a:t>	</a:t>
            </a:r>
            <a:r>
              <a:rPr sz="2550" dirty="0">
                <a:solidFill>
                  <a:srgbClr val="4B4B4B"/>
                </a:solidFill>
                <a:latin typeface="Arial MT"/>
                <a:cs typeface="Arial MT"/>
              </a:rPr>
              <a:t>are</a:t>
            </a:r>
            <a:r>
              <a:rPr sz="2550" spc="175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94949"/>
                </a:solidFill>
                <a:latin typeface="Arial MT"/>
                <a:cs typeface="Arial MT"/>
              </a:rPr>
              <a:t>often</a:t>
            </a:r>
            <a:r>
              <a:rPr sz="2550" spc="290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94949"/>
                </a:solidFill>
                <a:latin typeface="Arial MT"/>
                <a:cs typeface="Arial MT"/>
              </a:rPr>
              <a:t>seen</a:t>
            </a:r>
            <a:r>
              <a:rPr sz="2550" spc="204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B4B4B"/>
                </a:solidFill>
                <a:latin typeface="Arial MT"/>
                <a:cs typeface="Arial MT"/>
              </a:rPr>
              <a:t>as</a:t>
            </a:r>
            <a:r>
              <a:rPr sz="2550" spc="35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550" spc="75" dirty="0">
                <a:solidFill>
                  <a:srgbClr val="484848"/>
                </a:solidFill>
                <a:latin typeface="Arial MT"/>
                <a:cs typeface="Arial MT"/>
              </a:rPr>
              <a:t>"low- </a:t>
            </a:r>
            <a:r>
              <a:rPr sz="2550" dirty="0">
                <a:solidFill>
                  <a:srgbClr val="464646"/>
                </a:solidFill>
                <a:latin typeface="Arial MT"/>
                <a:cs typeface="Arial MT"/>
              </a:rPr>
              <a:t>hanging</a:t>
            </a:r>
            <a:r>
              <a:rPr sz="2550" spc="254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50" spc="105" dirty="0">
                <a:solidFill>
                  <a:srgbClr val="525252"/>
                </a:solidFill>
                <a:latin typeface="Arial MT"/>
                <a:cs typeface="Arial MT"/>
              </a:rPr>
              <a:t>fruit"</a:t>
            </a:r>
            <a:r>
              <a:rPr sz="2550" spc="330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D4D4D"/>
                </a:solidFill>
                <a:latin typeface="Arial MT"/>
                <a:cs typeface="Arial MT"/>
              </a:rPr>
              <a:t>by</a:t>
            </a:r>
            <a:r>
              <a:rPr sz="2550" spc="265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64646"/>
                </a:solidFill>
                <a:latin typeface="Arial MT"/>
                <a:cs typeface="Arial MT"/>
              </a:rPr>
              <a:t>attackers.</a:t>
            </a:r>
            <a:r>
              <a:rPr sz="2550" spc="45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94949"/>
                </a:solidFill>
                <a:latin typeface="Arial MT"/>
                <a:cs typeface="Arial MT"/>
              </a:rPr>
              <a:t>While</a:t>
            </a:r>
            <a:r>
              <a:rPr sz="2550" spc="330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505050"/>
                </a:solidFill>
                <a:latin typeface="Arial MT"/>
                <a:cs typeface="Arial MT"/>
              </a:rPr>
              <a:t>large</a:t>
            </a:r>
            <a:r>
              <a:rPr sz="2550" spc="320" dirty="0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494949"/>
                </a:solidFill>
                <a:latin typeface="Arial MT"/>
                <a:cs typeface="Arial MT"/>
              </a:rPr>
              <a:t>corporations </a:t>
            </a:r>
            <a:r>
              <a:rPr sz="2550" dirty="0">
                <a:solidFill>
                  <a:srgbClr val="464646"/>
                </a:solidFill>
                <a:latin typeface="Arial MT"/>
                <a:cs typeface="Arial MT"/>
              </a:rPr>
              <a:t>have</a:t>
            </a:r>
            <a:r>
              <a:rPr sz="2550" spc="2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94949"/>
                </a:solidFill>
                <a:latin typeface="Arial MT"/>
                <a:cs typeface="Arial MT"/>
              </a:rPr>
              <a:t>dedicated</a:t>
            </a:r>
            <a:r>
              <a:rPr sz="2550" spc="355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550" spc="50" dirty="0">
                <a:solidFill>
                  <a:srgbClr val="4B4B4B"/>
                </a:solidFill>
                <a:latin typeface="Arial MT"/>
                <a:cs typeface="Arial MT"/>
              </a:rPr>
              <a:t>security</a:t>
            </a:r>
            <a:r>
              <a:rPr sz="2550" spc="385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F4F4F"/>
                </a:solidFill>
                <a:latin typeface="Arial MT"/>
                <a:cs typeface="Arial MT"/>
              </a:rPr>
              <a:t>budgets,</a:t>
            </a:r>
            <a:r>
              <a:rPr sz="2550" spc="395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2550" spc="-45" dirty="0">
                <a:solidFill>
                  <a:srgbClr val="494949"/>
                </a:solidFill>
                <a:latin typeface="Arial MT"/>
                <a:cs typeface="Arial MT"/>
              </a:rPr>
              <a:t>SMEs</a:t>
            </a:r>
            <a:r>
              <a:rPr sz="2550" spc="305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94949"/>
                </a:solidFill>
                <a:latin typeface="Arial MT"/>
                <a:cs typeface="Arial MT"/>
              </a:rPr>
              <a:t>face</a:t>
            </a:r>
            <a:r>
              <a:rPr sz="2550" spc="260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4B4B4B"/>
                </a:solidFill>
                <a:latin typeface="Arial MT"/>
                <a:cs typeface="Arial MT"/>
              </a:rPr>
              <a:t>unique </a:t>
            </a:r>
            <a:r>
              <a:rPr sz="2550" spc="-10" dirty="0">
                <a:solidFill>
                  <a:srgbClr val="464646"/>
                </a:solidFill>
                <a:latin typeface="Arial MT"/>
                <a:cs typeface="Arial MT"/>
              </a:rPr>
              <a:t>challenges: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7649" y="5086620"/>
            <a:ext cx="8037830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82295" marR="5080" indent="-570230">
              <a:lnSpc>
                <a:spcPct val="129299"/>
              </a:lnSpc>
              <a:spcBef>
                <a:spcPts val="95"/>
              </a:spcBef>
              <a:tabLst>
                <a:tab pos="579120" algn="l"/>
              </a:tabLst>
            </a:pPr>
            <a:r>
              <a:rPr sz="2550" spc="25" dirty="0">
                <a:solidFill>
                  <a:srgbClr val="15B582"/>
                </a:solidFill>
                <a:latin typeface="Arial MT"/>
                <a:cs typeface="Arial MT"/>
              </a:rPr>
              <a:t>@</a:t>
            </a:r>
            <a:r>
              <a:rPr sz="2550" dirty="0">
                <a:solidFill>
                  <a:srgbClr val="15B582"/>
                </a:solidFill>
                <a:latin typeface="Arial MT"/>
                <a:cs typeface="Arial MT"/>
              </a:rPr>
              <a:t>	</a:t>
            </a:r>
            <a:r>
              <a:rPr sz="2550" spc="50" dirty="0">
                <a:solidFill>
                  <a:srgbClr val="3180FF"/>
                </a:solidFill>
                <a:latin typeface="Arial MT"/>
                <a:cs typeface="Arial MT"/>
              </a:rPr>
              <a:t>Limited</a:t>
            </a:r>
            <a:r>
              <a:rPr sz="2550" spc="100" dirty="0">
                <a:solidFill>
                  <a:srgbClr val="3180F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3480F0"/>
                </a:solidFill>
                <a:latin typeface="Arial MT"/>
                <a:cs typeface="Arial MT"/>
              </a:rPr>
              <a:t>Resources:</a:t>
            </a:r>
            <a:r>
              <a:rPr sz="2550" spc="335" dirty="0">
                <a:solidFill>
                  <a:srgbClr val="3480F0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B4B4B"/>
                </a:solidFill>
                <a:latin typeface="Arial MT"/>
                <a:cs typeface="Arial MT"/>
              </a:rPr>
              <a:t>Lack</a:t>
            </a:r>
            <a:r>
              <a:rPr sz="2550" spc="325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B4B4B"/>
                </a:solidFill>
                <a:latin typeface="Arial MT"/>
                <a:cs typeface="Arial MT"/>
              </a:rPr>
              <a:t>of</a:t>
            </a:r>
            <a:r>
              <a:rPr sz="2550" spc="30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B4B4B"/>
                </a:solidFill>
                <a:latin typeface="Arial MT"/>
                <a:cs typeface="Arial MT"/>
              </a:rPr>
              <a:t>dedicated</a:t>
            </a:r>
            <a:r>
              <a:rPr sz="2550" spc="254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D4D4D"/>
                </a:solidFill>
                <a:latin typeface="Arial MT"/>
                <a:cs typeface="Arial MT"/>
              </a:rPr>
              <a:t>IT</a:t>
            </a:r>
            <a:r>
              <a:rPr sz="2550" spc="360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94949"/>
                </a:solidFill>
                <a:latin typeface="Arial MT"/>
                <a:cs typeface="Arial MT"/>
              </a:rPr>
              <a:t>staff</a:t>
            </a:r>
            <a:r>
              <a:rPr sz="2550" spc="335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550" spc="-25" dirty="0">
                <a:solidFill>
                  <a:srgbClr val="3A5975"/>
                </a:solidFill>
                <a:latin typeface="Arial MT"/>
                <a:cs typeface="Arial MT"/>
              </a:rPr>
              <a:t>and </a:t>
            </a:r>
            <a:r>
              <a:rPr sz="2550" spc="70" dirty="0">
                <a:solidFill>
                  <a:srgbClr val="4B4B4B"/>
                </a:solidFill>
                <a:latin typeface="Arial MT"/>
                <a:cs typeface="Arial MT"/>
              </a:rPr>
              <a:t>restrictive</a:t>
            </a:r>
            <a:r>
              <a:rPr sz="2550" spc="37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550" spc="50" dirty="0">
                <a:solidFill>
                  <a:srgbClr val="494949"/>
                </a:solidFill>
                <a:latin typeface="Arial MT"/>
                <a:cs typeface="Arial MT"/>
              </a:rPr>
              <a:t>security</a:t>
            </a:r>
            <a:r>
              <a:rPr sz="2550" spc="280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4B4B4B"/>
                </a:solidFill>
                <a:latin typeface="Arial MT"/>
                <a:cs typeface="Arial MT"/>
              </a:rPr>
              <a:t>budgets.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7649" y="6327420"/>
            <a:ext cx="7840980" cy="154114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581660" marR="5080" indent="-569595">
              <a:lnSpc>
                <a:spcPct val="130300"/>
              </a:lnSpc>
              <a:spcBef>
                <a:spcPts val="65"/>
              </a:spcBef>
              <a:tabLst>
                <a:tab pos="577850" algn="l"/>
              </a:tabLst>
            </a:pPr>
            <a:r>
              <a:rPr sz="2550" spc="25" dirty="0">
                <a:solidFill>
                  <a:srgbClr val="16B883"/>
                </a:solidFill>
                <a:latin typeface="Arial MT"/>
                <a:cs typeface="Arial MT"/>
              </a:rPr>
              <a:t>@</a:t>
            </a:r>
            <a:r>
              <a:rPr sz="2550" dirty="0">
                <a:solidFill>
                  <a:srgbClr val="16B883"/>
                </a:solidFill>
                <a:latin typeface="Arial MT"/>
                <a:cs typeface="Arial MT"/>
              </a:rPr>
              <a:t>	</a:t>
            </a:r>
            <a:r>
              <a:rPr sz="2550" spc="50" dirty="0">
                <a:solidFill>
                  <a:srgbClr val="3182F4"/>
                </a:solidFill>
                <a:latin typeface="Arial MT"/>
                <a:cs typeface="Arial MT"/>
              </a:rPr>
              <a:t>Dependence</a:t>
            </a:r>
            <a:r>
              <a:rPr sz="2550" spc="295" dirty="0">
                <a:solidFill>
                  <a:srgbClr val="3182F4"/>
                </a:solidFill>
                <a:latin typeface="Arial MT"/>
                <a:cs typeface="Arial MT"/>
              </a:rPr>
              <a:t> </a:t>
            </a:r>
            <a:r>
              <a:rPr sz="2550" spc="80" dirty="0">
                <a:solidFill>
                  <a:srgbClr val="3D77F6"/>
                </a:solidFill>
                <a:latin typeface="Arial MT"/>
                <a:cs typeface="Arial MT"/>
              </a:rPr>
              <a:t>on</a:t>
            </a:r>
            <a:r>
              <a:rPr sz="2550" spc="-155" dirty="0">
                <a:solidFill>
                  <a:srgbClr val="3D77F6"/>
                </a:solidFill>
                <a:latin typeface="Arial MT"/>
                <a:cs typeface="Arial MT"/>
              </a:rPr>
              <a:t> </a:t>
            </a:r>
            <a:r>
              <a:rPr sz="2550" spc="50" dirty="0">
                <a:solidFill>
                  <a:srgbClr val="4B8AFF"/>
                </a:solidFill>
                <a:latin typeface="Arial MT"/>
                <a:cs typeface="Arial MT"/>
              </a:rPr>
              <a:t>Digital:</a:t>
            </a:r>
            <a:r>
              <a:rPr sz="2550" spc="240" dirty="0">
                <a:solidFill>
                  <a:srgbClr val="4B8AF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3D3D3D"/>
                </a:solidFill>
                <a:latin typeface="Arial MT"/>
                <a:cs typeface="Arial MT"/>
              </a:rPr>
              <a:t>Heavy</a:t>
            </a:r>
            <a:r>
              <a:rPr sz="2550" spc="320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F4F4F"/>
                </a:solidFill>
                <a:latin typeface="Arial MT"/>
                <a:cs typeface="Arial MT"/>
              </a:rPr>
              <a:t>reliance</a:t>
            </a:r>
            <a:r>
              <a:rPr sz="2550" spc="310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F5967"/>
                </a:solidFill>
                <a:latin typeface="Arial MT"/>
                <a:cs typeface="Arial MT"/>
              </a:rPr>
              <a:t>on</a:t>
            </a:r>
            <a:r>
              <a:rPr sz="2550" spc="175" dirty="0">
                <a:solidFill>
                  <a:srgbClr val="4F5967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4F4F4F"/>
                </a:solidFill>
                <a:latin typeface="Arial MT"/>
                <a:cs typeface="Arial MT"/>
              </a:rPr>
              <a:t>cloud </a:t>
            </a:r>
            <a:r>
              <a:rPr sz="2550" dirty="0">
                <a:solidFill>
                  <a:srgbClr val="4F4F4F"/>
                </a:solidFill>
                <a:latin typeface="Arial MT"/>
                <a:cs typeface="Arial MT"/>
              </a:rPr>
              <a:t>services,</a:t>
            </a:r>
            <a:r>
              <a:rPr sz="2550" spc="495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94949"/>
                </a:solidFill>
                <a:latin typeface="Arial MT"/>
                <a:cs typeface="Arial MT"/>
              </a:rPr>
              <a:t>digital</a:t>
            </a:r>
            <a:r>
              <a:rPr sz="2550" spc="409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D4D4D"/>
                </a:solidFill>
                <a:latin typeface="Arial MT"/>
                <a:cs typeface="Arial MT"/>
              </a:rPr>
              <a:t>payments,</a:t>
            </a:r>
            <a:r>
              <a:rPr sz="2550" spc="550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3D566E"/>
                </a:solidFill>
                <a:latin typeface="Arial MT"/>
                <a:cs typeface="Arial MT"/>
              </a:rPr>
              <a:t>and</a:t>
            </a:r>
            <a:r>
              <a:rPr sz="2550" spc="245" dirty="0">
                <a:solidFill>
                  <a:srgbClr val="3D566E"/>
                </a:solidFill>
                <a:latin typeface="Arial MT"/>
                <a:cs typeface="Arial MT"/>
              </a:rPr>
              <a:t> </a:t>
            </a:r>
            <a:r>
              <a:rPr sz="2550" spc="50" dirty="0">
                <a:solidFill>
                  <a:srgbClr val="3D3D3D"/>
                </a:solidFill>
                <a:latin typeface="Arial MT"/>
                <a:cs typeface="Arial MT"/>
              </a:rPr>
              <a:t>e-</a:t>
            </a:r>
            <a:r>
              <a:rPr sz="2550" spc="55" dirty="0">
                <a:solidFill>
                  <a:srgbClr val="3D3D3D"/>
                </a:solidFill>
                <a:latin typeface="Arial MT"/>
                <a:cs typeface="Arial MT"/>
              </a:rPr>
              <a:t>commerce </a:t>
            </a:r>
            <a:r>
              <a:rPr sz="2550" spc="-10" dirty="0">
                <a:solidFill>
                  <a:srgbClr val="4D4D4D"/>
                </a:solidFill>
                <a:latin typeface="Arial MT"/>
                <a:cs typeface="Arial MT"/>
              </a:rPr>
              <a:t>platforms.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7649" y="8062970"/>
            <a:ext cx="8281034" cy="22872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84835" marR="5080" indent="-572770">
              <a:lnSpc>
                <a:spcPct val="131400"/>
              </a:lnSpc>
              <a:spcBef>
                <a:spcPts val="90"/>
              </a:spcBef>
              <a:tabLst>
                <a:tab pos="576580" algn="l"/>
              </a:tabLst>
            </a:pPr>
            <a:r>
              <a:rPr sz="2550" spc="25" dirty="0">
                <a:solidFill>
                  <a:srgbClr val="07BC83"/>
                </a:solidFill>
                <a:latin typeface="Arial MT"/>
                <a:cs typeface="Arial MT"/>
              </a:rPr>
              <a:t>@</a:t>
            </a:r>
            <a:r>
              <a:rPr sz="2550" dirty="0">
                <a:solidFill>
                  <a:srgbClr val="07BC83"/>
                </a:solidFill>
                <a:latin typeface="Arial MT"/>
                <a:cs typeface="Arial MT"/>
              </a:rPr>
              <a:t>	</a:t>
            </a:r>
            <a:r>
              <a:rPr sz="2550" dirty="0">
                <a:solidFill>
                  <a:srgbClr val="3682F9"/>
                </a:solidFill>
                <a:latin typeface="Arial MT"/>
                <a:cs typeface="Arial MT"/>
              </a:rPr>
              <a:t>Focus</a:t>
            </a:r>
            <a:r>
              <a:rPr sz="2550" spc="114" dirty="0">
                <a:solidFill>
                  <a:srgbClr val="3682F9"/>
                </a:solidFill>
                <a:latin typeface="Arial MT"/>
                <a:cs typeface="Arial MT"/>
              </a:rPr>
              <a:t> </a:t>
            </a:r>
            <a:r>
              <a:rPr sz="2550" spc="80" dirty="0">
                <a:solidFill>
                  <a:srgbClr val="4189FF"/>
                </a:solidFill>
                <a:latin typeface="Arial MT"/>
                <a:cs typeface="Arial MT"/>
              </a:rPr>
              <a:t>on</a:t>
            </a:r>
            <a:r>
              <a:rPr sz="2550" spc="-150" dirty="0">
                <a:solidFill>
                  <a:srgbClr val="4189FF"/>
                </a:solidFill>
                <a:latin typeface="Arial MT"/>
                <a:cs typeface="Arial MT"/>
              </a:rPr>
              <a:t> </a:t>
            </a:r>
            <a:r>
              <a:rPr sz="2550" spc="70" dirty="0">
                <a:solidFill>
                  <a:srgbClr val="3F80FF"/>
                </a:solidFill>
                <a:latin typeface="Arial MT"/>
                <a:cs typeface="Arial MT"/>
              </a:rPr>
              <a:t>Growth:</a:t>
            </a:r>
            <a:r>
              <a:rPr sz="2550" spc="380" dirty="0">
                <a:solidFill>
                  <a:srgbClr val="3F80F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D4D4D"/>
                </a:solidFill>
                <a:latin typeface="Arial MT"/>
                <a:cs typeface="Arial MT"/>
              </a:rPr>
              <a:t>Security</a:t>
            </a:r>
            <a:r>
              <a:rPr sz="2550" spc="325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B4B4B"/>
                </a:solidFill>
                <a:latin typeface="Arial MT"/>
                <a:cs typeface="Arial MT"/>
              </a:rPr>
              <a:t>is</a:t>
            </a:r>
            <a:r>
              <a:rPr sz="2550" spc="254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94949"/>
                </a:solidFill>
                <a:latin typeface="Arial MT"/>
                <a:cs typeface="Arial MT"/>
              </a:rPr>
              <a:t>often</a:t>
            </a:r>
            <a:r>
              <a:rPr sz="2550" spc="235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550" spc="55" dirty="0">
                <a:solidFill>
                  <a:srgbClr val="4B4B4B"/>
                </a:solidFill>
                <a:latin typeface="Arial MT"/>
                <a:cs typeface="Arial MT"/>
              </a:rPr>
              <a:t>perceived</a:t>
            </a:r>
            <a:r>
              <a:rPr sz="2550" spc="245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B4B4B"/>
                </a:solidFill>
                <a:latin typeface="Arial MT"/>
                <a:cs typeface="Arial MT"/>
              </a:rPr>
              <a:t>as</a:t>
            </a:r>
            <a:r>
              <a:rPr sz="2550" spc="285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550" spc="-25" dirty="0">
                <a:solidFill>
                  <a:srgbClr val="4B4B4B"/>
                </a:solidFill>
                <a:latin typeface="Arial MT"/>
                <a:cs typeface="Arial MT"/>
              </a:rPr>
              <a:t>an </a:t>
            </a:r>
            <a:r>
              <a:rPr sz="2550" dirty="0">
                <a:solidFill>
                  <a:srgbClr val="4B4B4B"/>
                </a:solidFill>
                <a:latin typeface="Arial MT"/>
                <a:cs typeface="Arial MT"/>
              </a:rPr>
              <a:t>overhead,</a:t>
            </a:r>
            <a:r>
              <a:rPr sz="2550" spc="43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94949"/>
                </a:solidFill>
                <a:latin typeface="Arial MT"/>
                <a:cs typeface="Arial MT"/>
              </a:rPr>
              <a:t>not</a:t>
            </a:r>
            <a:r>
              <a:rPr sz="2550" spc="335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45464"/>
                </a:solidFill>
                <a:latin typeface="Arial MT"/>
                <a:cs typeface="Arial MT"/>
              </a:rPr>
              <a:t>a</a:t>
            </a:r>
            <a:r>
              <a:rPr sz="2550" spc="210" dirty="0">
                <a:solidFill>
                  <a:srgbClr val="44546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94949"/>
                </a:solidFill>
                <a:latin typeface="Arial MT"/>
                <a:cs typeface="Arial MT"/>
              </a:rPr>
              <a:t>business</a:t>
            </a:r>
            <a:r>
              <a:rPr sz="2550" spc="420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494949"/>
                </a:solidFill>
                <a:latin typeface="Arial MT"/>
                <a:cs typeface="Arial MT"/>
              </a:rPr>
              <a:t>enabler.</a:t>
            </a:r>
            <a:endParaRPr sz="2550">
              <a:latin typeface="Arial MT"/>
              <a:cs typeface="Arial MT"/>
            </a:endParaRPr>
          </a:p>
          <a:p>
            <a:pPr marL="582295" marR="421005" indent="-570230">
              <a:lnSpc>
                <a:spcPct val="131400"/>
              </a:lnSpc>
              <a:spcBef>
                <a:spcPts val="1730"/>
              </a:spcBef>
              <a:tabLst>
                <a:tab pos="579755" algn="l"/>
              </a:tabLst>
            </a:pPr>
            <a:r>
              <a:rPr sz="2550" spc="25" dirty="0">
                <a:solidFill>
                  <a:srgbClr val="11B882"/>
                </a:solidFill>
                <a:latin typeface="Arial MT"/>
                <a:cs typeface="Arial MT"/>
              </a:rPr>
              <a:t>@</a:t>
            </a:r>
            <a:r>
              <a:rPr sz="2550" dirty="0">
                <a:solidFill>
                  <a:srgbClr val="11B882"/>
                </a:solidFill>
                <a:latin typeface="Arial MT"/>
                <a:cs typeface="Arial MT"/>
              </a:rPr>
              <a:t>	</a:t>
            </a:r>
            <a:r>
              <a:rPr sz="2550" dirty="0">
                <a:solidFill>
                  <a:srgbClr val="3683FF"/>
                </a:solidFill>
                <a:latin typeface="Arial MT"/>
                <a:cs typeface="Arial MT"/>
              </a:rPr>
              <a:t>The</a:t>
            </a:r>
            <a:r>
              <a:rPr sz="2550" spc="95" dirty="0">
                <a:solidFill>
                  <a:srgbClr val="3683F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2883F9"/>
                </a:solidFill>
                <a:latin typeface="Arial MT"/>
                <a:cs typeface="Arial MT"/>
              </a:rPr>
              <a:t>Result:</a:t>
            </a:r>
            <a:r>
              <a:rPr sz="2550" spc="295" dirty="0">
                <a:solidFill>
                  <a:srgbClr val="2883F9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3F3F3F"/>
                </a:solidFill>
                <a:latin typeface="Arial MT"/>
                <a:cs typeface="Arial MT"/>
              </a:rPr>
              <a:t>Data</a:t>
            </a:r>
            <a:r>
              <a:rPr sz="2550" spc="295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64646"/>
                </a:solidFill>
                <a:latin typeface="Arial MT"/>
                <a:cs typeface="Arial MT"/>
              </a:rPr>
              <a:t>breaches,</a:t>
            </a:r>
            <a:r>
              <a:rPr sz="2550" spc="4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F4F4F"/>
                </a:solidFill>
                <a:latin typeface="Arial MT"/>
                <a:cs typeface="Arial MT"/>
              </a:rPr>
              <a:t>regulatory</a:t>
            </a:r>
            <a:r>
              <a:rPr sz="2550" spc="475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2550" spc="55" dirty="0">
                <a:solidFill>
                  <a:srgbClr val="484848"/>
                </a:solidFill>
                <a:latin typeface="Arial MT"/>
                <a:cs typeface="Arial MT"/>
              </a:rPr>
              <a:t>fines,</a:t>
            </a:r>
            <a:r>
              <a:rPr sz="2550" spc="330" dirty="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sz="2550" spc="-25" dirty="0">
                <a:solidFill>
                  <a:srgbClr val="565656"/>
                </a:solidFill>
                <a:latin typeface="Arial MT"/>
                <a:cs typeface="Arial MT"/>
              </a:rPr>
              <a:t>and </a:t>
            </a:r>
            <a:r>
              <a:rPr sz="2550" spc="75" dirty="0">
                <a:solidFill>
                  <a:srgbClr val="4B4B4B"/>
                </a:solidFill>
                <a:latin typeface="Arial MT"/>
                <a:cs typeface="Arial MT"/>
              </a:rPr>
              <a:t>business-</a:t>
            </a:r>
            <a:r>
              <a:rPr sz="2550" spc="80" dirty="0">
                <a:solidFill>
                  <a:srgbClr val="4B4B4B"/>
                </a:solidFill>
                <a:latin typeface="Arial MT"/>
                <a:cs typeface="Arial MT"/>
              </a:rPr>
              <a:t>ending</a:t>
            </a:r>
            <a:r>
              <a:rPr sz="2550" spc="15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94949"/>
                </a:solidFill>
                <a:latin typeface="Arial MT"/>
                <a:cs typeface="Arial MT"/>
              </a:rPr>
              <a:t>financial</a:t>
            </a:r>
            <a:r>
              <a:rPr sz="2550" spc="395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484848"/>
                </a:solidFill>
                <a:latin typeface="Arial MT"/>
                <a:cs typeface="Arial MT"/>
              </a:rPr>
              <a:t>loss.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38284" y="2339976"/>
            <a:ext cx="6233795" cy="594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372745" algn="l"/>
              </a:tabLst>
            </a:pPr>
            <a:r>
              <a:rPr sz="5550" spc="-75" baseline="-10510" dirty="0">
                <a:solidFill>
                  <a:srgbClr val="3B7EFF"/>
                </a:solidFill>
                <a:latin typeface="Arial MT"/>
                <a:cs typeface="Arial MT"/>
              </a:rPr>
              <a:t>I</a:t>
            </a:r>
            <a:r>
              <a:rPr sz="5550" baseline="-10510" dirty="0">
                <a:solidFill>
                  <a:srgbClr val="3B7EFF"/>
                </a:solidFill>
                <a:latin typeface="Arial MT"/>
                <a:cs typeface="Arial MT"/>
              </a:rPr>
              <a:t>	</a:t>
            </a:r>
            <a:r>
              <a:rPr sz="3700" spc="120" dirty="0">
                <a:solidFill>
                  <a:srgbClr val="1C1C1C"/>
                </a:solidFill>
                <a:latin typeface="Arial MT"/>
                <a:cs typeface="Arial MT"/>
              </a:rPr>
              <a:t>Common</a:t>
            </a:r>
            <a:r>
              <a:rPr sz="3700" spc="1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3700" spc="-120" dirty="0">
                <a:solidFill>
                  <a:srgbClr val="232323"/>
                </a:solidFill>
                <a:latin typeface="Arial MT"/>
                <a:cs typeface="Arial MT"/>
              </a:rPr>
              <a:t>SME</a:t>
            </a:r>
            <a:r>
              <a:rPr sz="370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3700" dirty="0">
                <a:solidFill>
                  <a:srgbClr val="212121"/>
                </a:solidFill>
                <a:latin typeface="Arial MT"/>
                <a:cs typeface="Arial MT"/>
              </a:rPr>
              <a:t>Cyber</a:t>
            </a:r>
            <a:r>
              <a:rPr sz="3700" spc="13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3700" spc="-10" dirty="0">
                <a:solidFill>
                  <a:srgbClr val="1A1A1A"/>
                </a:solidFill>
                <a:latin typeface="Arial MT"/>
                <a:cs typeface="Arial MT"/>
              </a:rPr>
              <a:t>Risks</a:t>
            </a:r>
            <a:endParaRPr sz="37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472923" y="4159948"/>
            <a:ext cx="2044700" cy="281940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 indent="227965">
              <a:lnSpc>
                <a:spcPct val="94700"/>
              </a:lnSpc>
              <a:spcBef>
                <a:spcPts val="285"/>
              </a:spcBef>
            </a:pPr>
            <a:r>
              <a:rPr sz="2550" dirty="0">
                <a:solidFill>
                  <a:srgbClr val="EB4644"/>
                </a:solidFill>
                <a:latin typeface="Arial MT"/>
                <a:cs typeface="Arial MT"/>
              </a:rPr>
              <a:t>«</a:t>
            </a:r>
            <a:r>
              <a:rPr sz="2550" spc="-60" dirty="0">
                <a:solidFill>
                  <a:srgbClr val="EB4644"/>
                </a:solidFill>
                <a:latin typeface="Arial MT"/>
                <a:cs typeface="Arial MT"/>
              </a:rPr>
              <a:t> </a:t>
            </a:r>
            <a:r>
              <a:rPr sz="2550" spc="190" dirty="0">
                <a:solidFill>
                  <a:srgbClr val="E24D4D"/>
                </a:solidFill>
                <a:latin typeface="Arial MT"/>
                <a:cs typeface="Arial MT"/>
              </a:rPr>
              <a:t>Phishing </a:t>
            </a:r>
            <a:r>
              <a:rPr sz="2550" spc="114" dirty="0">
                <a:solidFill>
                  <a:srgbClr val="E43B3B"/>
                </a:solidFill>
                <a:latin typeface="Arial MT"/>
                <a:cs typeface="Arial MT"/>
              </a:rPr>
              <a:t>&amp;</a:t>
            </a:r>
            <a:r>
              <a:rPr sz="2550" spc="60" dirty="0">
                <a:solidFill>
                  <a:srgbClr val="E43B3B"/>
                </a:solidFill>
                <a:latin typeface="Arial MT"/>
                <a:cs typeface="Arial MT"/>
              </a:rPr>
              <a:t> </a:t>
            </a:r>
            <a:r>
              <a:rPr sz="2550" spc="85" dirty="0">
                <a:solidFill>
                  <a:srgbClr val="F63852"/>
                </a:solidFill>
                <a:latin typeface="Arial MT"/>
                <a:cs typeface="Arial MT"/>
              </a:rPr>
              <a:t>Social </a:t>
            </a:r>
            <a:r>
              <a:rPr sz="2700" spc="114" dirty="0">
                <a:solidFill>
                  <a:srgbClr val="E23F3A"/>
                </a:solidFill>
                <a:latin typeface="Arial MT"/>
                <a:cs typeface="Arial MT"/>
              </a:rPr>
              <a:t>Engineering</a:t>
            </a:r>
            <a:endParaRPr sz="2700">
              <a:latin typeface="Arial MT"/>
              <a:cs typeface="Arial MT"/>
            </a:endParaRPr>
          </a:p>
          <a:p>
            <a:pPr marL="15875" marR="195580" indent="4445">
              <a:lnSpc>
                <a:spcPct val="105400"/>
              </a:lnSpc>
              <a:spcBef>
                <a:spcPts val="1820"/>
              </a:spcBef>
            </a:pPr>
            <a:r>
              <a:rPr sz="2200" spc="-10" dirty="0">
                <a:solidFill>
                  <a:srgbClr val="494949"/>
                </a:solidFill>
                <a:latin typeface="Arial MT"/>
                <a:cs typeface="Arial MT"/>
              </a:rPr>
              <a:t>Exploiting </a:t>
            </a:r>
            <a:r>
              <a:rPr sz="2200" spc="-10" dirty="0">
                <a:solidFill>
                  <a:srgbClr val="3A3A3A"/>
                </a:solidFill>
                <a:latin typeface="Arial MT"/>
                <a:cs typeface="Arial MT"/>
              </a:rPr>
              <a:t>untrained </a:t>
            </a:r>
            <a:r>
              <a:rPr sz="2200" spc="-60" dirty="0">
                <a:solidFill>
                  <a:srgbClr val="444444"/>
                </a:solidFill>
                <a:latin typeface="Arial MT"/>
                <a:cs typeface="Arial MT"/>
              </a:rPr>
              <a:t>employees</a:t>
            </a:r>
            <a:r>
              <a:rPr sz="2200" spc="-8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484848"/>
                </a:solidFill>
                <a:latin typeface="Arial MT"/>
                <a:cs typeface="Arial MT"/>
              </a:rPr>
              <a:t>for </a:t>
            </a:r>
            <a:r>
              <a:rPr sz="2200" spc="-45" dirty="0">
                <a:solidFill>
                  <a:srgbClr val="3F3F3F"/>
                </a:solidFill>
                <a:latin typeface="Arial MT"/>
                <a:cs typeface="Arial MT"/>
              </a:rPr>
              <a:t>credential </a:t>
            </a:r>
            <a:r>
              <a:rPr sz="2200" spc="-45" dirty="0">
                <a:solidFill>
                  <a:srgbClr val="3D3D3D"/>
                </a:solidFill>
                <a:latin typeface="Arial MT"/>
                <a:cs typeface="Arial MT"/>
              </a:rPr>
              <a:t>theft.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848346" y="4536899"/>
            <a:ext cx="1364615" cy="351853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136525" indent="15240">
              <a:lnSpc>
                <a:spcPts val="2970"/>
              </a:lnSpc>
              <a:spcBef>
                <a:spcPts val="300"/>
              </a:spcBef>
            </a:pPr>
            <a:r>
              <a:rPr sz="2550" spc="-20" dirty="0">
                <a:solidFill>
                  <a:srgbClr val="F64942"/>
                </a:solidFill>
                <a:latin typeface="Arial Black"/>
                <a:cs typeface="Arial Black"/>
              </a:rPr>
              <a:t>Weak </a:t>
            </a:r>
            <a:r>
              <a:rPr sz="2550" b="1" spc="-10" dirty="0">
                <a:solidFill>
                  <a:srgbClr val="E64641"/>
                </a:solidFill>
                <a:latin typeface="Arial"/>
                <a:cs typeface="Arial"/>
              </a:rPr>
              <a:t>Access </a:t>
            </a:r>
            <a:r>
              <a:rPr sz="2550" b="1" spc="-10" dirty="0">
                <a:solidFill>
                  <a:srgbClr val="EB4B49"/>
                </a:solidFill>
                <a:latin typeface="Arial"/>
                <a:cs typeface="Arial"/>
              </a:rPr>
              <a:t>Control</a:t>
            </a:r>
            <a:endParaRPr sz="2550">
              <a:latin typeface="Arial"/>
              <a:cs typeface="Arial"/>
            </a:endParaRPr>
          </a:p>
          <a:p>
            <a:pPr marL="17145" marR="5080" indent="4445">
              <a:lnSpc>
                <a:spcPct val="104900"/>
              </a:lnSpc>
              <a:spcBef>
                <a:spcPts val="1770"/>
              </a:spcBef>
            </a:pPr>
            <a:r>
              <a:rPr sz="2200" spc="-10" dirty="0">
                <a:solidFill>
                  <a:srgbClr val="464646"/>
                </a:solidFill>
                <a:latin typeface="Arial MT"/>
                <a:cs typeface="Arial MT"/>
              </a:rPr>
              <a:t>Default </a:t>
            </a:r>
            <a:r>
              <a:rPr sz="2200" spc="-75" dirty="0">
                <a:solidFill>
                  <a:srgbClr val="494949"/>
                </a:solidFill>
                <a:latin typeface="Arial MT"/>
                <a:cs typeface="Arial MT"/>
              </a:rPr>
              <a:t>passwords, </a:t>
            </a:r>
            <a:r>
              <a:rPr sz="2200" spc="-10" dirty="0">
                <a:solidFill>
                  <a:srgbClr val="484848"/>
                </a:solidFill>
                <a:latin typeface="Arial MT"/>
                <a:cs typeface="Arial MT"/>
              </a:rPr>
              <a:t>shared </a:t>
            </a:r>
            <a:r>
              <a:rPr sz="2200" spc="-10" dirty="0">
                <a:solidFill>
                  <a:srgbClr val="424242"/>
                </a:solidFill>
                <a:latin typeface="Arial MT"/>
                <a:cs typeface="Arial MT"/>
              </a:rPr>
              <a:t>accounts, </a:t>
            </a:r>
            <a:r>
              <a:rPr sz="2200" spc="-45" dirty="0">
                <a:solidFill>
                  <a:srgbClr val="424242"/>
                </a:solidFill>
                <a:latin typeface="Arial MT"/>
                <a:cs typeface="Arial MT"/>
              </a:rPr>
              <a:t>and</a:t>
            </a:r>
            <a:r>
              <a:rPr sz="2200" spc="-105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525252"/>
                </a:solidFill>
                <a:latin typeface="Arial MT"/>
                <a:cs typeface="Arial MT"/>
              </a:rPr>
              <a:t>no </a:t>
            </a:r>
            <a:r>
              <a:rPr sz="2200" spc="-20" dirty="0">
                <a:solidFill>
                  <a:srgbClr val="414141"/>
                </a:solidFill>
                <a:latin typeface="Arial MT"/>
                <a:cs typeface="Arial MT"/>
              </a:rPr>
              <a:t>MFA.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552583" y="4536899"/>
            <a:ext cx="2167255" cy="20574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25"/>
              </a:spcBef>
            </a:pPr>
            <a:r>
              <a:rPr sz="2550" spc="-135" dirty="0">
                <a:solidFill>
                  <a:srgbClr val="E84857"/>
                </a:solidFill>
                <a:latin typeface="Arial Black"/>
                <a:cs typeface="Arial Black"/>
              </a:rPr>
              <a:t>Ransomware</a:t>
            </a:r>
            <a:endParaRPr sz="2550">
              <a:latin typeface="Arial Black"/>
              <a:cs typeface="Arial Black"/>
            </a:endParaRPr>
          </a:p>
          <a:p>
            <a:pPr marL="12700" marR="247650" indent="6350">
              <a:lnSpc>
                <a:spcPct val="104600"/>
              </a:lnSpc>
              <a:spcBef>
                <a:spcPts val="1870"/>
              </a:spcBef>
            </a:pPr>
            <a:r>
              <a:rPr sz="2200" spc="-40" dirty="0">
                <a:solidFill>
                  <a:srgbClr val="464646"/>
                </a:solidFill>
                <a:latin typeface="Arial MT"/>
                <a:cs typeface="Arial MT"/>
              </a:rPr>
              <a:t>Encryption</a:t>
            </a:r>
            <a:r>
              <a:rPr sz="2200" spc="-3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494949"/>
                </a:solidFill>
                <a:latin typeface="Arial MT"/>
                <a:cs typeface="Arial MT"/>
              </a:rPr>
              <a:t>of </a:t>
            </a:r>
            <a:r>
              <a:rPr sz="2200" dirty="0">
                <a:solidFill>
                  <a:srgbClr val="484848"/>
                </a:solidFill>
                <a:latin typeface="Arial MT"/>
                <a:cs typeface="Arial MT"/>
              </a:rPr>
              <a:t>critical</a:t>
            </a:r>
            <a:r>
              <a:rPr sz="2200" spc="-105" dirty="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sz="2200" spc="-40" dirty="0">
                <a:solidFill>
                  <a:srgbClr val="414141"/>
                </a:solidFill>
                <a:latin typeface="Arial MT"/>
                <a:cs typeface="Arial MT"/>
              </a:rPr>
              <a:t>data</a:t>
            </a:r>
            <a:r>
              <a:rPr sz="2200" spc="-75" dirty="0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sz="2200" spc="-65" dirty="0">
                <a:solidFill>
                  <a:srgbClr val="3B3B3B"/>
                </a:solidFill>
                <a:latin typeface="Arial MT"/>
                <a:cs typeface="Arial MT"/>
              </a:rPr>
              <a:t>due </a:t>
            </a:r>
            <a:r>
              <a:rPr sz="2200" dirty="0">
                <a:solidFill>
                  <a:srgbClr val="464646"/>
                </a:solidFill>
                <a:latin typeface="Arial MT"/>
                <a:cs typeface="Arial MT"/>
              </a:rPr>
              <a:t>to</a:t>
            </a:r>
            <a:r>
              <a:rPr sz="2200" spc="3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464646"/>
                </a:solidFill>
                <a:latin typeface="Arial MT"/>
                <a:cs typeface="Arial MT"/>
              </a:rPr>
              <a:t>unpatched systems.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9245" y="1301397"/>
            <a:ext cx="945832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 marR="5080" indent="-1905">
              <a:lnSpc>
                <a:spcPct val="129299"/>
              </a:lnSpc>
              <a:spcBef>
                <a:spcPts val="95"/>
              </a:spcBef>
              <a:tabLst>
                <a:tab pos="8642985" algn="l"/>
              </a:tabLst>
            </a:pPr>
            <a:r>
              <a:rPr sz="2550" b="0" dirty="0">
                <a:solidFill>
                  <a:srgbClr val="4D4D4D"/>
                </a:solidFill>
                <a:latin typeface="Arial MT"/>
                <a:cs typeface="Arial MT"/>
              </a:rPr>
              <a:t>We</a:t>
            </a:r>
            <a:r>
              <a:rPr sz="2550" b="0" spc="125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2550" b="0" spc="45" dirty="0">
                <a:solidFill>
                  <a:srgbClr val="424242"/>
                </a:solidFill>
                <a:latin typeface="Arial MT"/>
                <a:cs typeface="Arial MT"/>
              </a:rPr>
              <a:t>propose</a:t>
            </a:r>
            <a:r>
              <a:rPr sz="2550" b="0" spc="20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2550" b="0" dirty="0">
                <a:solidFill>
                  <a:srgbClr val="415B6B"/>
                </a:solidFill>
                <a:latin typeface="Arial MT"/>
                <a:cs typeface="Arial MT"/>
              </a:rPr>
              <a:t>using</a:t>
            </a:r>
            <a:r>
              <a:rPr sz="2550" b="0" spc="40" dirty="0">
                <a:solidFill>
                  <a:srgbClr val="415B6B"/>
                </a:solidFill>
                <a:latin typeface="Arial MT"/>
                <a:cs typeface="Arial MT"/>
              </a:rPr>
              <a:t> </a:t>
            </a:r>
            <a:r>
              <a:rPr sz="2550" b="0" spc="75" dirty="0">
                <a:solidFill>
                  <a:srgbClr val="464646"/>
                </a:solidFill>
                <a:latin typeface="Arial MT"/>
                <a:cs typeface="Arial MT"/>
              </a:rPr>
              <a:t>the</a:t>
            </a:r>
            <a:r>
              <a:rPr sz="2550" b="0" spc="204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50" b="0" spc="60" dirty="0">
                <a:solidFill>
                  <a:srgbClr val="495970"/>
                </a:solidFill>
                <a:latin typeface="Arial MT"/>
                <a:cs typeface="Arial MT"/>
              </a:rPr>
              <a:t>•</a:t>
            </a:r>
            <a:r>
              <a:rPr sz="2550" b="0" spc="-80" dirty="0">
                <a:solidFill>
                  <a:srgbClr val="495970"/>
                </a:solidFill>
                <a:latin typeface="Arial MT"/>
                <a:cs typeface="Arial MT"/>
              </a:rPr>
              <a:t> </a:t>
            </a:r>
            <a:r>
              <a:rPr sz="2550" b="0" spc="-20" dirty="0">
                <a:solidFill>
                  <a:srgbClr val="4B4B4B"/>
                </a:solidFill>
                <a:latin typeface="Arial MT"/>
                <a:cs typeface="Arial MT"/>
              </a:rPr>
              <a:t>+NIST</a:t>
            </a:r>
            <a:r>
              <a:rPr sz="2550" b="0" spc="21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550" b="0" spc="55" dirty="0">
                <a:solidFill>
                  <a:srgbClr val="424242"/>
                </a:solidFill>
                <a:latin typeface="Arial MT"/>
                <a:cs typeface="Arial MT"/>
              </a:rPr>
              <a:t>Cybersecurity</a:t>
            </a:r>
            <a:r>
              <a:rPr sz="2550" b="0" spc="305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2550" b="0" spc="-10" dirty="0">
                <a:solidFill>
                  <a:srgbClr val="4B4B4B"/>
                </a:solidFill>
                <a:latin typeface="Arial MT"/>
                <a:cs typeface="Arial MT"/>
              </a:rPr>
              <a:t>Framework</a:t>
            </a:r>
            <a:r>
              <a:rPr sz="2550" b="0" dirty="0">
                <a:solidFill>
                  <a:srgbClr val="4B4B4B"/>
                </a:solidFill>
                <a:latin typeface="Arial MT"/>
                <a:cs typeface="Arial MT"/>
              </a:rPr>
              <a:t>	</a:t>
            </a:r>
            <a:r>
              <a:rPr sz="2550" b="0" spc="-110" dirty="0">
                <a:solidFill>
                  <a:srgbClr val="494949"/>
                </a:solidFill>
                <a:latin typeface="Arial MT"/>
                <a:cs typeface="Arial MT"/>
              </a:rPr>
              <a:t>(CSF) </a:t>
            </a:r>
            <a:r>
              <a:rPr sz="2550" b="0" spc="50" dirty="0">
                <a:solidFill>
                  <a:srgbClr val="3D3D3D"/>
                </a:solidFill>
                <a:latin typeface="Arial MT"/>
                <a:cs typeface="Arial MT"/>
              </a:rPr>
              <a:t>steps,</a:t>
            </a:r>
            <a:r>
              <a:rPr sz="2550" b="0" spc="210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2550" b="0" dirty="0">
                <a:solidFill>
                  <a:srgbClr val="46566B"/>
                </a:solidFill>
                <a:latin typeface="Arial MT"/>
                <a:cs typeface="Arial MT"/>
              </a:rPr>
              <a:t>making</a:t>
            </a:r>
            <a:r>
              <a:rPr sz="2550" b="0" spc="160" dirty="0">
                <a:solidFill>
                  <a:srgbClr val="46566B"/>
                </a:solidFill>
                <a:latin typeface="Arial MT"/>
                <a:cs typeface="Arial MT"/>
              </a:rPr>
              <a:t> </a:t>
            </a:r>
            <a:r>
              <a:rPr sz="2550" b="0" dirty="0">
                <a:solidFill>
                  <a:srgbClr val="4D4D4D"/>
                </a:solidFill>
                <a:latin typeface="Arial MT"/>
                <a:cs typeface="Arial MT"/>
              </a:rPr>
              <a:t>it</a:t>
            </a:r>
            <a:r>
              <a:rPr sz="2550" b="0" spc="335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2550" b="0" dirty="0">
                <a:solidFill>
                  <a:srgbClr val="4D4D4D"/>
                </a:solidFill>
                <a:latin typeface="Arial MT"/>
                <a:cs typeface="Arial MT"/>
              </a:rPr>
              <a:t>ideal</a:t>
            </a:r>
            <a:r>
              <a:rPr sz="2550" b="0" spc="165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2550" b="0" dirty="0">
                <a:solidFill>
                  <a:srgbClr val="445B6D"/>
                </a:solidFill>
                <a:latin typeface="Arial MT"/>
                <a:cs typeface="Arial MT"/>
              </a:rPr>
              <a:t>for</a:t>
            </a:r>
            <a:r>
              <a:rPr sz="2550" b="0" spc="305" dirty="0">
                <a:solidFill>
                  <a:srgbClr val="445B6D"/>
                </a:solidFill>
                <a:latin typeface="Arial MT"/>
                <a:cs typeface="Arial MT"/>
              </a:rPr>
              <a:t> </a:t>
            </a:r>
            <a:r>
              <a:rPr sz="2550" b="0" spc="90" dirty="0">
                <a:solidFill>
                  <a:srgbClr val="424242"/>
                </a:solidFill>
                <a:latin typeface="Arial MT"/>
                <a:cs typeface="Arial MT"/>
              </a:rPr>
              <a:t>resource-constrained</a:t>
            </a:r>
            <a:r>
              <a:rPr sz="2550" b="0" spc="-12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2550" b="0" spc="-10" dirty="0">
                <a:solidFill>
                  <a:srgbClr val="4B4B4B"/>
                </a:solidFill>
                <a:latin typeface="Arial MT"/>
                <a:cs typeface="Arial MT"/>
              </a:rPr>
              <a:t>SMEs.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23427" y="1411340"/>
            <a:ext cx="8034655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dirty="0">
                <a:solidFill>
                  <a:srgbClr val="4D4D4D"/>
                </a:solidFill>
                <a:latin typeface="Arial MT"/>
                <a:cs typeface="Arial MT"/>
              </a:rPr>
              <a:t>due</a:t>
            </a:r>
            <a:r>
              <a:rPr sz="2550" spc="190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2550" spc="100" dirty="0">
                <a:solidFill>
                  <a:srgbClr val="4D4D4D"/>
                </a:solidFill>
                <a:latin typeface="Arial MT"/>
                <a:cs typeface="Arial MT"/>
              </a:rPr>
              <a:t>to</a:t>
            </a:r>
            <a:r>
              <a:rPr sz="2550" spc="185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2550" spc="50" dirty="0">
                <a:solidFill>
                  <a:srgbClr val="445772"/>
                </a:solidFill>
                <a:latin typeface="Arial MT"/>
                <a:cs typeface="Arial MT"/>
              </a:rPr>
              <a:t>its</a:t>
            </a:r>
            <a:r>
              <a:rPr sz="2550" spc="360" dirty="0">
                <a:solidFill>
                  <a:srgbClr val="445772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F4F4F"/>
                </a:solidFill>
                <a:latin typeface="Arial MT"/>
                <a:cs typeface="Arial MT"/>
              </a:rPr>
              <a:t>simplicity,</a:t>
            </a:r>
            <a:r>
              <a:rPr sz="2550" spc="459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64646"/>
                </a:solidFill>
                <a:latin typeface="Arial MT"/>
                <a:cs typeface="Arial MT"/>
              </a:rPr>
              <a:t>scalability,</a:t>
            </a:r>
            <a:r>
              <a:rPr sz="2550" spc="38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3D566E"/>
                </a:solidFill>
                <a:latin typeface="Arial MT"/>
                <a:cs typeface="Arial MT"/>
              </a:rPr>
              <a:t>and</a:t>
            </a:r>
            <a:r>
              <a:rPr sz="2550" spc="75" dirty="0">
                <a:solidFill>
                  <a:srgbClr val="3D566E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D4D4D"/>
                </a:solidFill>
                <a:latin typeface="Arial MT"/>
                <a:cs typeface="Arial MT"/>
              </a:rPr>
              <a:t>focus</a:t>
            </a:r>
            <a:r>
              <a:rPr sz="2550" spc="345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D4D4D"/>
                </a:solidFill>
                <a:latin typeface="Arial MT"/>
                <a:cs typeface="Arial MT"/>
              </a:rPr>
              <a:t>on</a:t>
            </a:r>
            <a:r>
              <a:rPr sz="2550" spc="195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464646"/>
                </a:solidFill>
                <a:latin typeface="Arial MT"/>
                <a:cs typeface="Arial MT"/>
              </a:rPr>
              <a:t>practical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7775" y="4301959"/>
            <a:ext cx="2268220" cy="17932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6350" algn="ctr">
              <a:lnSpc>
                <a:spcPct val="100000"/>
              </a:lnSpc>
              <a:spcBef>
                <a:spcPts val="95"/>
              </a:spcBef>
            </a:pPr>
            <a:r>
              <a:rPr sz="2450" spc="45" dirty="0">
                <a:solidFill>
                  <a:srgbClr val="2F3B9A"/>
                </a:solidFill>
                <a:latin typeface="Arial MT"/>
                <a:cs typeface="Arial MT"/>
              </a:rPr>
              <a:t>Identify</a:t>
            </a:r>
            <a:endParaRPr sz="2450">
              <a:latin typeface="Arial MT"/>
              <a:cs typeface="Arial MT"/>
            </a:endParaRPr>
          </a:p>
          <a:p>
            <a:pPr marL="12700" marR="5080" algn="ctr">
              <a:lnSpc>
                <a:spcPct val="113100"/>
              </a:lnSpc>
              <a:spcBef>
                <a:spcPts val="1610"/>
              </a:spcBef>
            </a:pPr>
            <a:r>
              <a:rPr sz="2300" spc="-135" dirty="0">
                <a:solidFill>
                  <a:srgbClr val="4F649E"/>
                </a:solidFill>
                <a:latin typeface="Arial MT"/>
                <a:cs typeface="Arial MT"/>
              </a:rPr>
              <a:t>Understand</a:t>
            </a:r>
            <a:r>
              <a:rPr sz="2300" spc="45" dirty="0">
                <a:solidFill>
                  <a:srgbClr val="4F649E"/>
                </a:solidFill>
                <a:latin typeface="Arial MT"/>
                <a:cs typeface="Arial MT"/>
              </a:rPr>
              <a:t> </a:t>
            </a:r>
            <a:r>
              <a:rPr sz="2300" spc="-130" dirty="0">
                <a:solidFill>
                  <a:srgbClr val="2A346E"/>
                </a:solidFill>
                <a:latin typeface="Arial MT"/>
                <a:cs typeface="Arial MT"/>
              </a:rPr>
              <a:t>assets, </a:t>
            </a:r>
            <a:r>
              <a:rPr sz="2300" spc="-75" dirty="0">
                <a:solidFill>
                  <a:srgbClr val="1C366E"/>
                </a:solidFill>
                <a:latin typeface="Arial MT"/>
                <a:cs typeface="Arial MT"/>
              </a:rPr>
              <a:t>risks,</a:t>
            </a:r>
            <a:r>
              <a:rPr sz="2300" spc="-45" dirty="0">
                <a:solidFill>
                  <a:srgbClr val="1C366E"/>
                </a:solidFill>
                <a:latin typeface="Arial MT"/>
                <a:cs typeface="Arial MT"/>
              </a:rPr>
              <a:t> </a:t>
            </a:r>
            <a:r>
              <a:rPr sz="2300" spc="-25" dirty="0">
                <a:solidFill>
                  <a:srgbClr val="1C2A64"/>
                </a:solidFill>
                <a:latin typeface="Arial MT"/>
                <a:cs typeface="Arial MT"/>
              </a:rPr>
              <a:t>and </a:t>
            </a:r>
            <a:r>
              <a:rPr sz="2300" spc="-25" dirty="0">
                <a:solidFill>
                  <a:srgbClr val="283A80"/>
                </a:solidFill>
                <a:latin typeface="Arial MT"/>
                <a:cs typeface="Arial MT"/>
              </a:rPr>
              <a:t>vulnerabilities.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63055" y="4285598"/>
            <a:ext cx="1533525" cy="18141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22225" algn="ctr">
              <a:lnSpc>
                <a:spcPct val="100000"/>
              </a:lnSpc>
              <a:spcBef>
                <a:spcPts val="125"/>
              </a:spcBef>
            </a:pPr>
            <a:r>
              <a:rPr sz="2550" spc="-10" dirty="0">
                <a:solidFill>
                  <a:srgbClr val="213B97"/>
                </a:solidFill>
                <a:latin typeface="Arial MT"/>
                <a:cs typeface="Arial MT"/>
              </a:rPr>
              <a:t>Protect</a:t>
            </a:r>
            <a:endParaRPr sz="2550">
              <a:latin typeface="Arial MT"/>
              <a:cs typeface="Arial MT"/>
            </a:endParaRPr>
          </a:p>
          <a:p>
            <a:pPr marL="12700" marR="5080" algn="ctr">
              <a:lnSpc>
                <a:spcPct val="119500"/>
              </a:lnSpc>
              <a:spcBef>
                <a:spcPts val="1535"/>
              </a:spcBef>
            </a:pPr>
            <a:r>
              <a:rPr sz="2200" spc="-35" dirty="0">
                <a:solidFill>
                  <a:srgbClr val="38498C"/>
                </a:solidFill>
                <a:latin typeface="Arial MT"/>
                <a:cs typeface="Arial MT"/>
              </a:rPr>
              <a:t>Develop</a:t>
            </a:r>
            <a:r>
              <a:rPr sz="2200" spc="-80" dirty="0">
                <a:solidFill>
                  <a:srgbClr val="38498C"/>
                </a:solidFill>
                <a:latin typeface="Arial MT"/>
                <a:cs typeface="Arial MT"/>
              </a:rPr>
              <a:t> </a:t>
            </a:r>
            <a:r>
              <a:rPr sz="2200" spc="-75" dirty="0">
                <a:solidFill>
                  <a:srgbClr val="2D367E"/>
                </a:solidFill>
                <a:latin typeface="Arial MT"/>
                <a:cs typeface="Arial MT"/>
              </a:rPr>
              <a:t>and </a:t>
            </a:r>
            <a:r>
              <a:rPr sz="2200" spc="-10" dirty="0">
                <a:solidFill>
                  <a:srgbClr val="1A3D70"/>
                </a:solidFill>
                <a:latin typeface="Arial MT"/>
                <a:cs typeface="Arial MT"/>
              </a:rPr>
              <a:t>implement </a:t>
            </a:r>
            <a:r>
              <a:rPr sz="2200" spc="-10" dirty="0">
                <a:solidFill>
                  <a:srgbClr val="1C236D"/>
                </a:solidFill>
                <a:latin typeface="Arial MT"/>
                <a:cs typeface="Arial MT"/>
              </a:rPr>
              <a:t>safeguards.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6109" y="7286815"/>
            <a:ext cx="17021810" cy="396684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15"/>
              </a:spcBef>
              <a:tabLst>
                <a:tab pos="413384" algn="l"/>
              </a:tabLst>
            </a:pPr>
            <a:r>
              <a:rPr sz="5775" spc="-75" baseline="-10101" dirty="0">
                <a:solidFill>
                  <a:srgbClr val="3A80FF"/>
                </a:solidFill>
                <a:latin typeface="Arial MT"/>
                <a:cs typeface="Arial MT"/>
              </a:rPr>
              <a:t>I</a:t>
            </a:r>
            <a:r>
              <a:rPr sz="5775" baseline="-10101" dirty="0">
                <a:solidFill>
                  <a:srgbClr val="3A80FF"/>
                </a:solidFill>
                <a:latin typeface="Arial MT"/>
                <a:cs typeface="Arial MT"/>
              </a:rPr>
              <a:t>	</a:t>
            </a:r>
            <a:r>
              <a:rPr sz="3850" dirty="0">
                <a:solidFill>
                  <a:srgbClr val="1C1C1C"/>
                </a:solidFill>
                <a:latin typeface="Arial MT"/>
                <a:cs typeface="Arial MT"/>
              </a:rPr>
              <a:t>Practical</a:t>
            </a:r>
            <a:r>
              <a:rPr sz="3850" spc="7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3850" spc="60" dirty="0">
                <a:solidFill>
                  <a:srgbClr val="1C1C1C"/>
                </a:solidFill>
                <a:latin typeface="Arial MT"/>
                <a:cs typeface="Arial MT"/>
              </a:rPr>
              <a:t>Application</a:t>
            </a:r>
            <a:r>
              <a:rPr sz="3850" spc="16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3850" spc="90" dirty="0">
                <a:solidFill>
                  <a:srgbClr val="232323"/>
                </a:solidFill>
                <a:latin typeface="Arial MT"/>
                <a:cs typeface="Arial MT"/>
              </a:rPr>
              <a:t>for</a:t>
            </a:r>
            <a:r>
              <a:rPr sz="3850" spc="8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3850" spc="-10" dirty="0">
                <a:solidFill>
                  <a:srgbClr val="212121"/>
                </a:solidFill>
                <a:latin typeface="Arial MT"/>
                <a:cs typeface="Arial MT"/>
              </a:rPr>
              <a:t>SMEs:</a:t>
            </a:r>
            <a:endParaRPr sz="3850">
              <a:latin typeface="Arial MT"/>
              <a:cs typeface="Arial MT"/>
            </a:endParaRPr>
          </a:p>
          <a:p>
            <a:pPr marL="123825" marR="55880" indent="5715">
              <a:lnSpc>
                <a:spcPct val="131400"/>
              </a:lnSpc>
              <a:spcBef>
                <a:spcPts val="3570"/>
              </a:spcBef>
              <a:tabLst>
                <a:tab pos="1014094" algn="l"/>
              </a:tabLst>
            </a:pPr>
            <a:r>
              <a:rPr sz="2550" spc="-25" dirty="0">
                <a:solidFill>
                  <a:srgbClr val="505050"/>
                </a:solidFill>
                <a:latin typeface="Arial MT"/>
                <a:cs typeface="Arial MT"/>
              </a:rPr>
              <a:t>The</a:t>
            </a:r>
            <a:r>
              <a:rPr sz="2550" dirty="0">
                <a:solidFill>
                  <a:srgbClr val="505050"/>
                </a:solidFill>
                <a:latin typeface="Arial MT"/>
                <a:cs typeface="Arial MT"/>
              </a:rPr>
              <a:t>	</a:t>
            </a:r>
            <a:r>
              <a:rPr sz="2550" spc="65" dirty="0">
                <a:solidFill>
                  <a:srgbClr val="444444"/>
                </a:solidFill>
                <a:latin typeface="Arial MT"/>
                <a:cs typeface="Arial MT"/>
              </a:rPr>
              <a:t>+Identify**</a:t>
            </a:r>
            <a:r>
              <a:rPr sz="2550" spc="37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B4B4B"/>
                </a:solidFill>
                <a:latin typeface="Arial MT"/>
                <a:cs typeface="Arial MT"/>
              </a:rPr>
              <a:t>phase</a:t>
            </a:r>
            <a:r>
              <a:rPr sz="2550" spc="26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45772"/>
                </a:solidFill>
                <a:latin typeface="Arial MT"/>
                <a:cs typeface="Arial MT"/>
              </a:rPr>
              <a:t>is</a:t>
            </a:r>
            <a:r>
              <a:rPr sz="2550" spc="175" dirty="0">
                <a:solidFill>
                  <a:srgbClr val="445772"/>
                </a:solidFill>
                <a:latin typeface="Arial MT"/>
                <a:cs typeface="Arial MT"/>
              </a:rPr>
              <a:t> </a:t>
            </a:r>
            <a:r>
              <a:rPr sz="2550" spc="75" dirty="0">
                <a:solidFill>
                  <a:srgbClr val="464646"/>
                </a:solidFill>
                <a:latin typeface="Arial MT"/>
                <a:cs typeface="Arial MT"/>
              </a:rPr>
              <a:t>the</a:t>
            </a:r>
            <a:r>
              <a:rPr sz="2550" spc="2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6566B"/>
                </a:solidFill>
                <a:latin typeface="Arial MT"/>
                <a:cs typeface="Arial MT"/>
              </a:rPr>
              <a:t>most</a:t>
            </a:r>
            <a:r>
              <a:rPr sz="2550" spc="370" dirty="0">
                <a:solidFill>
                  <a:srgbClr val="46566B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505969"/>
                </a:solidFill>
                <a:latin typeface="Arial MT"/>
                <a:cs typeface="Arial MT"/>
              </a:rPr>
              <a:t>critical</a:t>
            </a:r>
            <a:r>
              <a:rPr sz="2550" spc="185" dirty="0">
                <a:solidFill>
                  <a:srgbClr val="505969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F4F4F"/>
                </a:solidFill>
                <a:latin typeface="Arial MT"/>
                <a:cs typeface="Arial MT"/>
              </a:rPr>
              <a:t>for</a:t>
            </a:r>
            <a:r>
              <a:rPr sz="2550" spc="345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3B5975"/>
                </a:solidFill>
                <a:latin typeface="Arial MT"/>
                <a:cs typeface="Arial MT"/>
              </a:rPr>
              <a:t>an</a:t>
            </a:r>
            <a:r>
              <a:rPr sz="2550" spc="170" dirty="0">
                <a:solidFill>
                  <a:srgbClr val="3B5975"/>
                </a:solidFill>
                <a:latin typeface="Arial MT"/>
                <a:cs typeface="Arial MT"/>
              </a:rPr>
              <a:t> </a:t>
            </a:r>
            <a:r>
              <a:rPr sz="2550" spc="-25" dirty="0">
                <a:solidFill>
                  <a:srgbClr val="4F4F4F"/>
                </a:solidFill>
                <a:latin typeface="Arial MT"/>
                <a:cs typeface="Arial MT"/>
              </a:rPr>
              <a:t>SME,</a:t>
            </a:r>
            <a:r>
              <a:rPr sz="2550" spc="270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B4B4B"/>
                </a:solidFill>
                <a:latin typeface="Arial MT"/>
                <a:cs typeface="Arial MT"/>
              </a:rPr>
              <a:t>establishing</a:t>
            </a:r>
            <a:r>
              <a:rPr sz="2550" spc="325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3D566E"/>
                </a:solidFill>
                <a:latin typeface="Arial MT"/>
                <a:cs typeface="Arial MT"/>
              </a:rPr>
              <a:t>a</a:t>
            </a:r>
            <a:r>
              <a:rPr sz="2550" spc="190" dirty="0">
                <a:solidFill>
                  <a:srgbClr val="3D566E"/>
                </a:solidFill>
                <a:latin typeface="Arial MT"/>
                <a:cs typeface="Arial MT"/>
              </a:rPr>
              <a:t> </a:t>
            </a:r>
            <a:r>
              <a:rPr sz="2550" spc="55" dirty="0">
                <a:solidFill>
                  <a:srgbClr val="484848"/>
                </a:solidFill>
                <a:latin typeface="Arial MT"/>
                <a:cs typeface="Arial MT"/>
              </a:rPr>
              <a:t>risk</a:t>
            </a:r>
            <a:r>
              <a:rPr sz="2550" spc="220" dirty="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D4D4D"/>
                </a:solidFill>
                <a:latin typeface="Arial MT"/>
                <a:cs typeface="Arial MT"/>
              </a:rPr>
              <a:t>baseline</a:t>
            </a:r>
            <a:r>
              <a:rPr sz="2550" spc="315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D4D4D"/>
                </a:solidFill>
                <a:latin typeface="Arial MT"/>
                <a:cs typeface="Arial MT"/>
              </a:rPr>
              <a:t>before</a:t>
            </a:r>
            <a:r>
              <a:rPr sz="2550" spc="250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2550" spc="50" dirty="0">
                <a:solidFill>
                  <a:srgbClr val="424242"/>
                </a:solidFill>
                <a:latin typeface="Arial MT"/>
                <a:cs typeface="Arial MT"/>
              </a:rPr>
              <a:t>investing</a:t>
            </a:r>
            <a:r>
              <a:rPr sz="2550" spc="295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525252"/>
                </a:solidFill>
                <a:latin typeface="Arial MT"/>
                <a:cs typeface="Arial MT"/>
              </a:rPr>
              <a:t>in</a:t>
            </a:r>
            <a:r>
              <a:rPr sz="2550" spc="135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2550" spc="50" dirty="0">
                <a:solidFill>
                  <a:srgbClr val="4B4B4B"/>
                </a:solidFill>
                <a:latin typeface="Arial MT"/>
                <a:cs typeface="Arial MT"/>
              </a:rPr>
              <a:t>protective </a:t>
            </a:r>
            <a:r>
              <a:rPr sz="2550" spc="-10" dirty="0">
                <a:solidFill>
                  <a:srgbClr val="3D3D3D"/>
                </a:solidFill>
                <a:latin typeface="Arial MT"/>
                <a:cs typeface="Arial MT"/>
              </a:rPr>
              <a:t>measures.</a:t>
            </a:r>
            <a:endParaRPr sz="25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2550">
              <a:latin typeface="Arial MT"/>
              <a:cs typeface="Arial MT"/>
            </a:endParaRPr>
          </a:p>
          <a:p>
            <a:pPr marL="675640" marR="7434580" indent="-572135">
              <a:lnSpc>
                <a:spcPct val="129299"/>
              </a:lnSpc>
              <a:tabLst>
                <a:tab pos="668020" algn="l"/>
                <a:tab pos="3040380" algn="l"/>
                <a:tab pos="8724265" algn="l"/>
              </a:tabLst>
            </a:pPr>
            <a:r>
              <a:rPr sz="2550" spc="25" dirty="0">
                <a:solidFill>
                  <a:srgbClr val="16B883"/>
                </a:solidFill>
                <a:latin typeface="Arial MT"/>
                <a:cs typeface="Arial MT"/>
              </a:rPr>
              <a:t>@</a:t>
            </a:r>
            <a:r>
              <a:rPr sz="2550" dirty="0">
                <a:solidFill>
                  <a:srgbClr val="16B883"/>
                </a:solidFill>
                <a:latin typeface="Arial MT"/>
                <a:cs typeface="Arial MT"/>
              </a:rPr>
              <a:t>	</a:t>
            </a:r>
            <a:r>
              <a:rPr sz="2550" dirty="0">
                <a:solidFill>
                  <a:srgbClr val="505050"/>
                </a:solidFill>
                <a:latin typeface="Arial MT"/>
                <a:cs typeface="Arial MT"/>
              </a:rPr>
              <a:t>Focus</a:t>
            </a:r>
            <a:r>
              <a:rPr sz="2550" spc="180" dirty="0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sz="2550" spc="75" dirty="0">
                <a:solidFill>
                  <a:srgbClr val="494949"/>
                </a:solidFill>
                <a:latin typeface="Arial MT"/>
                <a:cs typeface="Arial MT"/>
              </a:rPr>
              <a:t>first</a:t>
            </a:r>
            <a:r>
              <a:rPr sz="2550" spc="250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550" spc="-25" dirty="0">
                <a:solidFill>
                  <a:srgbClr val="505E69"/>
                </a:solidFill>
                <a:latin typeface="Arial MT"/>
                <a:cs typeface="Arial MT"/>
              </a:rPr>
              <a:t>on</a:t>
            </a:r>
            <a:r>
              <a:rPr sz="2550" dirty="0">
                <a:solidFill>
                  <a:srgbClr val="505E69"/>
                </a:solidFill>
                <a:latin typeface="Arial MT"/>
                <a:cs typeface="Arial MT"/>
              </a:rPr>
              <a:t>	</a:t>
            </a:r>
            <a:r>
              <a:rPr sz="2550" dirty="0">
                <a:solidFill>
                  <a:srgbClr val="3D3D3D"/>
                </a:solidFill>
                <a:latin typeface="Arial MT"/>
                <a:cs typeface="Arial MT"/>
              </a:rPr>
              <a:t>+Inventory</a:t>
            </a:r>
            <a:r>
              <a:rPr sz="2550" spc="525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365B72"/>
                </a:solidFill>
                <a:latin typeface="Arial MT"/>
                <a:cs typeface="Arial MT"/>
              </a:rPr>
              <a:t>and</a:t>
            </a:r>
            <a:r>
              <a:rPr sz="2550" spc="240" dirty="0">
                <a:solidFill>
                  <a:srgbClr val="365B72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24242"/>
                </a:solidFill>
                <a:latin typeface="Arial MT"/>
                <a:cs typeface="Arial MT"/>
              </a:rPr>
              <a:t>Asset</a:t>
            </a:r>
            <a:r>
              <a:rPr sz="2550" spc="43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2550" spc="40" dirty="0">
                <a:solidFill>
                  <a:srgbClr val="3D3D3D"/>
                </a:solidFill>
                <a:latin typeface="Arial MT"/>
                <a:cs typeface="Arial MT"/>
              </a:rPr>
              <a:t>Management**</a:t>
            </a:r>
            <a:r>
              <a:rPr sz="2550" dirty="0">
                <a:solidFill>
                  <a:srgbClr val="3D3D3D"/>
                </a:solidFill>
                <a:latin typeface="Arial MT"/>
                <a:cs typeface="Arial MT"/>
              </a:rPr>
              <a:t>	</a:t>
            </a:r>
            <a:r>
              <a:rPr sz="2550" spc="-30" dirty="0">
                <a:solidFill>
                  <a:srgbClr val="4D4D4D"/>
                </a:solidFill>
                <a:latin typeface="Arial MT"/>
                <a:cs typeface="Arial MT"/>
              </a:rPr>
              <a:t>(What </a:t>
            </a:r>
            <a:r>
              <a:rPr sz="2550" dirty="0">
                <a:solidFill>
                  <a:srgbClr val="494949"/>
                </a:solidFill>
                <a:latin typeface="Arial MT"/>
                <a:cs typeface="Arial MT"/>
              </a:rPr>
              <a:t>data</a:t>
            </a:r>
            <a:r>
              <a:rPr sz="2550" spc="165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15777"/>
                </a:solidFill>
                <a:latin typeface="Arial MT"/>
                <a:cs typeface="Arial MT"/>
              </a:rPr>
              <a:t>do</a:t>
            </a:r>
            <a:r>
              <a:rPr sz="2550" spc="220" dirty="0">
                <a:solidFill>
                  <a:srgbClr val="415777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94949"/>
                </a:solidFill>
                <a:latin typeface="Arial MT"/>
                <a:cs typeface="Arial MT"/>
              </a:rPr>
              <a:t>we</a:t>
            </a:r>
            <a:r>
              <a:rPr sz="2550" spc="110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444444"/>
                </a:solidFill>
                <a:latin typeface="Arial MT"/>
                <a:cs typeface="Arial MT"/>
              </a:rPr>
              <a:t>have?).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79970" y="4093850"/>
            <a:ext cx="1733550" cy="2012314"/>
          </a:xfrm>
          <a:prstGeom prst="rect">
            <a:avLst/>
          </a:prstGeom>
        </p:spPr>
        <p:txBody>
          <a:bodyPr vert="horz" wrap="square" lIns="0" tIns="227965" rIns="0" bIns="0" rtlCol="0">
            <a:spAutoFit/>
          </a:bodyPr>
          <a:lstStyle/>
          <a:p>
            <a:pPr marR="17780" algn="ctr">
              <a:lnSpc>
                <a:spcPct val="100000"/>
              </a:lnSpc>
              <a:spcBef>
                <a:spcPts val="1795"/>
              </a:spcBef>
            </a:pPr>
            <a:r>
              <a:rPr sz="2450" spc="-315" dirty="0">
                <a:solidFill>
                  <a:srgbClr val="213B87"/>
                </a:solidFill>
                <a:latin typeface="Arial Black"/>
                <a:cs typeface="Arial Black"/>
              </a:rPr>
              <a:t>Detect</a:t>
            </a:r>
            <a:endParaRPr sz="2450">
              <a:latin typeface="Arial Black"/>
              <a:cs typeface="Arial Black"/>
            </a:endParaRPr>
          </a:p>
          <a:p>
            <a:pPr marL="12700" marR="5080" indent="-7620" algn="ctr">
              <a:lnSpc>
                <a:spcPct val="108300"/>
              </a:lnSpc>
              <a:spcBef>
                <a:spcPts val="1455"/>
              </a:spcBef>
            </a:pPr>
            <a:r>
              <a:rPr sz="2450" spc="-160" dirty="0">
                <a:solidFill>
                  <a:srgbClr val="183870"/>
                </a:solidFill>
                <a:latin typeface="Arial MT"/>
                <a:cs typeface="Arial MT"/>
              </a:rPr>
              <a:t>Monitor</a:t>
            </a:r>
            <a:r>
              <a:rPr sz="2450" spc="20" dirty="0">
                <a:solidFill>
                  <a:srgbClr val="183870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6075B1"/>
                </a:solidFill>
                <a:latin typeface="Arial MT"/>
                <a:cs typeface="Arial MT"/>
              </a:rPr>
              <a:t>for </a:t>
            </a:r>
            <a:r>
              <a:rPr sz="2450" spc="-225" dirty="0">
                <a:solidFill>
                  <a:srgbClr val="363F87"/>
                </a:solidFill>
                <a:latin typeface="Arial MT"/>
                <a:cs typeface="Arial MT"/>
              </a:rPr>
              <a:t>anomalies</a:t>
            </a:r>
            <a:r>
              <a:rPr sz="2450" spc="80" dirty="0">
                <a:solidFill>
                  <a:srgbClr val="363F87"/>
                </a:solidFill>
                <a:latin typeface="Arial MT"/>
                <a:cs typeface="Arial MT"/>
              </a:rPr>
              <a:t> </a:t>
            </a:r>
            <a:r>
              <a:rPr sz="2450" spc="-204" dirty="0">
                <a:solidFill>
                  <a:srgbClr val="859CCD"/>
                </a:solidFill>
                <a:latin typeface="Arial MT"/>
                <a:cs typeface="Arial MT"/>
              </a:rPr>
              <a:t>and </a:t>
            </a:r>
            <a:r>
              <a:rPr sz="2450" spc="-85" dirty="0">
                <a:solidFill>
                  <a:srgbClr val="183B82"/>
                </a:solidFill>
                <a:latin typeface="Arial MT"/>
                <a:cs typeface="Arial MT"/>
              </a:rPr>
              <a:t>incidents.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722776" y="4301959"/>
            <a:ext cx="2275840" cy="1797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450" spc="-10" dirty="0">
                <a:solidFill>
                  <a:srgbClr val="1D3680"/>
                </a:solidFill>
                <a:latin typeface="Arial MT"/>
                <a:cs typeface="Arial MT"/>
              </a:rPr>
              <a:t>Respond</a:t>
            </a:r>
            <a:endParaRPr sz="2450">
              <a:latin typeface="Arial MT"/>
              <a:cs typeface="Arial MT"/>
            </a:endParaRPr>
          </a:p>
          <a:p>
            <a:pPr marL="12065" marR="5080" indent="12700" algn="ctr">
              <a:lnSpc>
                <a:spcPct val="120600"/>
              </a:lnSpc>
              <a:spcBef>
                <a:spcPts val="1465"/>
              </a:spcBef>
            </a:pPr>
            <a:r>
              <a:rPr sz="2200" spc="-125" dirty="0">
                <a:solidFill>
                  <a:srgbClr val="3B4D8E"/>
                </a:solidFill>
                <a:latin typeface="Arial MT"/>
                <a:cs typeface="Arial MT"/>
              </a:rPr>
              <a:t>Take</a:t>
            </a:r>
            <a:r>
              <a:rPr sz="2200" spc="-5" dirty="0">
                <a:solidFill>
                  <a:srgbClr val="3B4D8E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343D85"/>
                </a:solidFill>
                <a:latin typeface="Arial MT"/>
                <a:cs typeface="Arial MT"/>
              </a:rPr>
              <a:t>action </a:t>
            </a:r>
            <a:r>
              <a:rPr sz="2200" spc="-35" dirty="0">
                <a:solidFill>
                  <a:srgbClr val="2F3164"/>
                </a:solidFill>
                <a:latin typeface="Arial MT"/>
                <a:cs typeface="Arial MT"/>
              </a:rPr>
              <a:t>regarding </a:t>
            </a:r>
            <a:r>
              <a:rPr sz="2200" spc="-50" dirty="0">
                <a:solidFill>
                  <a:srgbClr val="3A4485"/>
                </a:solidFill>
                <a:latin typeface="Arial MT"/>
                <a:cs typeface="Arial MT"/>
              </a:rPr>
              <a:t>detected </a:t>
            </a:r>
            <a:r>
              <a:rPr sz="2200" spc="-10" dirty="0">
                <a:solidFill>
                  <a:srgbClr val="183D82"/>
                </a:solidFill>
                <a:latin typeface="Arial MT"/>
                <a:cs typeface="Arial MT"/>
              </a:rPr>
              <a:t>incidents.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612934" y="4293451"/>
            <a:ext cx="2142490" cy="1805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10795" algn="ctr">
              <a:lnSpc>
                <a:spcPct val="100000"/>
              </a:lnSpc>
              <a:spcBef>
                <a:spcPts val="125"/>
              </a:spcBef>
            </a:pPr>
            <a:r>
              <a:rPr sz="2550" spc="-10" dirty="0">
                <a:solidFill>
                  <a:srgbClr val="1C3183"/>
                </a:solidFill>
                <a:latin typeface="Arial MT"/>
                <a:cs typeface="Arial MT"/>
              </a:rPr>
              <a:t>Recover</a:t>
            </a:r>
            <a:endParaRPr sz="2550">
              <a:latin typeface="Arial MT"/>
              <a:cs typeface="Arial MT"/>
            </a:endParaRPr>
          </a:p>
          <a:p>
            <a:pPr marL="12700" marR="5080" algn="ctr">
              <a:lnSpc>
                <a:spcPct val="106200"/>
              </a:lnSpc>
              <a:spcBef>
                <a:spcPts val="1555"/>
              </a:spcBef>
            </a:pPr>
            <a:r>
              <a:rPr sz="2450" spc="-215" dirty="0">
                <a:solidFill>
                  <a:srgbClr val="576BBA"/>
                </a:solidFill>
                <a:latin typeface="Arial MT"/>
                <a:cs typeface="Arial MT"/>
              </a:rPr>
              <a:t>Maintain</a:t>
            </a:r>
            <a:r>
              <a:rPr sz="2450" spc="95" dirty="0">
                <a:solidFill>
                  <a:srgbClr val="576BBA"/>
                </a:solidFill>
                <a:latin typeface="Arial MT"/>
                <a:cs typeface="Arial MT"/>
              </a:rPr>
              <a:t> </a:t>
            </a:r>
            <a:r>
              <a:rPr sz="2450" spc="-204" dirty="0">
                <a:solidFill>
                  <a:srgbClr val="1C3872"/>
                </a:solidFill>
                <a:latin typeface="Arial MT"/>
                <a:cs typeface="Arial MT"/>
              </a:rPr>
              <a:t>plans</a:t>
            </a:r>
            <a:r>
              <a:rPr sz="2450" dirty="0">
                <a:solidFill>
                  <a:srgbClr val="1C3872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6075B6"/>
                </a:solidFill>
                <a:latin typeface="Arial MT"/>
                <a:cs typeface="Arial MT"/>
              </a:rPr>
              <a:t>for </a:t>
            </a:r>
            <a:r>
              <a:rPr sz="2450" spc="-185" dirty="0">
                <a:solidFill>
                  <a:srgbClr val="1F3D7C"/>
                </a:solidFill>
                <a:latin typeface="Arial MT"/>
                <a:cs typeface="Arial MT"/>
              </a:rPr>
              <a:t>resilience</a:t>
            </a:r>
            <a:r>
              <a:rPr sz="2450" spc="75" dirty="0">
                <a:solidFill>
                  <a:srgbClr val="1F3D7C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8599DF"/>
                </a:solidFill>
                <a:latin typeface="Arial MT"/>
                <a:cs typeface="Arial MT"/>
              </a:rPr>
              <a:t>and </a:t>
            </a:r>
            <a:r>
              <a:rPr sz="2450" spc="-85" dirty="0">
                <a:solidFill>
                  <a:srgbClr val="1F3D87"/>
                </a:solidFill>
                <a:latin typeface="Arial MT"/>
                <a:cs typeface="Arial MT"/>
              </a:rPr>
              <a:t>restoration.</a:t>
            </a:r>
            <a:endParaRPr sz="2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3792" y="4067938"/>
            <a:ext cx="18156515" cy="138215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06" y="0"/>
            <a:ext cx="20088393" cy="12565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41197" y="271322"/>
            <a:ext cx="15695930" cy="929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900" b="0" dirty="0">
                <a:solidFill>
                  <a:srgbClr val="183B85"/>
                </a:solidFill>
                <a:latin typeface="Arial MT"/>
                <a:cs typeface="Arial MT"/>
              </a:rPr>
              <a:t>Risk</a:t>
            </a:r>
            <a:r>
              <a:rPr sz="5900" b="0" spc="-135" dirty="0">
                <a:solidFill>
                  <a:srgbClr val="183B85"/>
                </a:solidFill>
                <a:latin typeface="Arial MT"/>
                <a:cs typeface="Arial MT"/>
              </a:rPr>
              <a:t> </a:t>
            </a:r>
            <a:r>
              <a:rPr sz="5900" b="0" spc="130" dirty="0">
                <a:solidFill>
                  <a:srgbClr val="21388C"/>
                </a:solidFill>
                <a:latin typeface="Arial MT"/>
                <a:cs typeface="Arial MT"/>
              </a:rPr>
              <a:t>Evaluation</a:t>
            </a:r>
            <a:r>
              <a:rPr sz="5900" b="0" spc="180" dirty="0">
                <a:solidFill>
                  <a:srgbClr val="21388C"/>
                </a:solidFill>
                <a:latin typeface="Arial MT"/>
                <a:cs typeface="Arial MT"/>
              </a:rPr>
              <a:t> </a:t>
            </a:r>
            <a:r>
              <a:rPr sz="5900" b="0" spc="215" dirty="0">
                <a:solidFill>
                  <a:srgbClr val="1F3889"/>
                </a:solidFill>
                <a:latin typeface="Arial MT"/>
                <a:cs typeface="Arial MT"/>
              </a:rPr>
              <a:t>Metric:</a:t>
            </a:r>
            <a:r>
              <a:rPr sz="5900" b="0" spc="-360" dirty="0">
                <a:solidFill>
                  <a:srgbClr val="1F3889"/>
                </a:solidFill>
                <a:latin typeface="Arial MT"/>
                <a:cs typeface="Arial MT"/>
              </a:rPr>
              <a:t> </a:t>
            </a:r>
            <a:r>
              <a:rPr sz="5900" spc="-55" dirty="0">
                <a:solidFill>
                  <a:srgbClr val="1F3A85"/>
                </a:solidFill>
              </a:rPr>
              <a:t>Likelihood</a:t>
            </a:r>
            <a:r>
              <a:rPr sz="5900" spc="15" dirty="0">
                <a:solidFill>
                  <a:srgbClr val="1F3A85"/>
                </a:solidFill>
              </a:rPr>
              <a:t> </a:t>
            </a:r>
            <a:r>
              <a:rPr sz="5900" b="0" dirty="0">
                <a:solidFill>
                  <a:srgbClr val="1C3B8C"/>
                </a:solidFill>
                <a:latin typeface="Arial MT"/>
                <a:cs typeface="Arial MT"/>
              </a:rPr>
              <a:t>vs.</a:t>
            </a:r>
            <a:r>
              <a:rPr sz="5900" b="0" spc="-555" dirty="0">
                <a:solidFill>
                  <a:srgbClr val="1C3B8C"/>
                </a:solidFill>
                <a:latin typeface="Arial MT"/>
                <a:cs typeface="Arial MT"/>
              </a:rPr>
              <a:t> </a:t>
            </a:r>
            <a:r>
              <a:rPr sz="5900" b="0" spc="275" dirty="0">
                <a:solidFill>
                  <a:srgbClr val="1F3891"/>
                </a:solidFill>
                <a:latin typeface="Arial MT"/>
                <a:cs typeface="Arial MT"/>
              </a:rPr>
              <a:t>Impact</a:t>
            </a:r>
            <a:endParaRPr sz="59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9634" y="2322308"/>
            <a:ext cx="13250544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3335">
              <a:lnSpc>
                <a:spcPct val="129299"/>
              </a:lnSpc>
              <a:spcBef>
                <a:spcPts val="95"/>
              </a:spcBef>
              <a:tabLst>
                <a:tab pos="8102600" algn="l"/>
              </a:tabLst>
            </a:pPr>
            <a:r>
              <a:rPr sz="2550" dirty="0">
                <a:solidFill>
                  <a:srgbClr val="424242"/>
                </a:solidFill>
                <a:latin typeface="Arial MT"/>
                <a:cs typeface="Arial MT"/>
              </a:rPr>
              <a:t>Threats</a:t>
            </a:r>
            <a:r>
              <a:rPr sz="2550" spc="409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525252"/>
                </a:solidFill>
                <a:latin typeface="Arial MT"/>
                <a:cs typeface="Arial MT"/>
              </a:rPr>
              <a:t>are</a:t>
            </a:r>
            <a:r>
              <a:rPr sz="2550" spc="200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F4F4F"/>
                </a:solidFill>
                <a:latin typeface="Arial MT"/>
                <a:cs typeface="Arial MT"/>
              </a:rPr>
              <a:t>ranked</a:t>
            </a:r>
            <a:r>
              <a:rPr sz="2550" spc="225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33526B"/>
                </a:solidFill>
                <a:latin typeface="Arial MT"/>
                <a:cs typeface="Arial MT"/>
              </a:rPr>
              <a:t>by</a:t>
            </a:r>
            <a:r>
              <a:rPr sz="2550" spc="190" dirty="0">
                <a:solidFill>
                  <a:srgbClr val="33526B"/>
                </a:solidFill>
                <a:latin typeface="Arial MT"/>
                <a:cs typeface="Arial MT"/>
              </a:rPr>
              <a:t> </a:t>
            </a:r>
            <a:r>
              <a:rPr sz="2550" spc="50" dirty="0">
                <a:solidFill>
                  <a:srgbClr val="4D4D4D"/>
                </a:solidFill>
                <a:latin typeface="Arial MT"/>
                <a:cs typeface="Arial MT"/>
              </a:rPr>
              <a:t>multiplying</a:t>
            </a:r>
            <a:r>
              <a:rPr sz="2550" spc="250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2550" spc="75" dirty="0">
                <a:solidFill>
                  <a:srgbClr val="4F4F4F"/>
                </a:solidFill>
                <a:latin typeface="Arial MT"/>
                <a:cs typeface="Arial MT"/>
              </a:rPr>
              <a:t>the</a:t>
            </a:r>
            <a:r>
              <a:rPr sz="2550" spc="300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2550" spc="60" dirty="0">
                <a:solidFill>
                  <a:srgbClr val="425664"/>
                </a:solidFill>
                <a:latin typeface="Arial MT"/>
                <a:cs typeface="Arial MT"/>
              </a:rPr>
              <a:t>•</a:t>
            </a:r>
            <a:r>
              <a:rPr sz="2550" spc="-15" dirty="0">
                <a:solidFill>
                  <a:srgbClr val="425664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494949"/>
                </a:solidFill>
                <a:latin typeface="Arial MT"/>
                <a:cs typeface="Arial MT"/>
              </a:rPr>
              <a:t>+LikeIihood**</a:t>
            </a:r>
            <a:r>
              <a:rPr sz="2550" dirty="0">
                <a:solidFill>
                  <a:srgbClr val="494949"/>
                </a:solidFill>
                <a:latin typeface="Arial MT"/>
                <a:cs typeface="Arial MT"/>
              </a:rPr>
              <a:t>	(how</a:t>
            </a:r>
            <a:r>
              <a:rPr sz="2550" spc="310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B4B4B"/>
                </a:solidFill>
                <a:latin typeface="Arial MT"/>
                <a:cs typeface="Arial MT"/>
              </a:rPr>
              <a:t>often</a:t>
            </a:r>
            <a:r>
              <a:rPr sz="2550" spc="195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8566B"/>
                </a:solidFill>
                <a:latin typeface="Arial MT"/>
                <a:cs typeface="Arial MT"/>
              </a:rPr>
              <a:t>it</a:t>
            </a:r>
            <a:r>
              <a:rPr sz="2550" spc="365" dirty="0">
                <a:solidFill>
                  <a:srgbClr val="48566B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545454"/>
                </a:solidFill>
                <a:latin typeface="Arial MT"/>
                <a:cs typeface="Arial MT"/>
              </a:rPr>
              <a:t>might</a:t>
            </a:r>
            <a:r>
              <a:rPr sz="2550" spc="434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44444"/>
                </a:solidFill>
                <a:latin typeface="Arial MT"/>
                <a:cs typeface="Arial MT"/>
              </a:rPr>
              <a:t>occur)</a:t>
            </a:r>
            <a:r>
              <a:rPr sz="2550" spc="35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66279"/>
                </a:solidFill>
                <a:latin typeface="Arial MT"/>
                <a:cs typeface="Arial MT"/>
              </a:rPr>
              <a:t>by</a:t>
            </a:r>
            <a:r>
              <a:rPr sz="2550" spc="155" dirty="0">
                <a:solidFill>
                  <a:srgbClr val="466279"/>
                </a:solidFill>
                <a:latin typeface="Arial MT"/>
                <a:cs typeface="Arial MT"/>
              </a:rPr>
              <a:t> </a:t>
            </a:r>
            <a:r>
              <a:rPr sz="2550" spc="75" dirty="0">
                <a:solidFill>
                  <a:srgbClr val="4F4F4F"/>
                </a:solidFill>
                <a:latin typeface="Arial MT"/>
                <a:cs typeface="Arial MT"/>
              </a:rPr>
              <a:t>the</a:t>
            </a:r>
            <a:r>
              <a:rPr sz="2550" spc="330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2550" spc="10" dirty="0">
                <a:solidFill>
                  <a:srgbClr val="41546D"/>
                </a:solidFill>
                <a:latin typeface="Arial MT"/>
                <a:cs typeface="Arial MT"/>
              </a:rPr>
              <a:t>• </a:t>
            </a:r>
            <a:r>
              <a:rPr sz="2550" spc="75" dirty="0">
                <a:solidFill>
                  <a:srgbClr val="4F4F4F"/>
                </a:solidFill>
                <a:latin typeface="Arial MT"/>
                <a:cs typeface="Arial MT"/>
              </a:rPr>
              <a:t>the</a:t>
            </a:r>
            <a:r>
              <a:rPr sz="2550" spc="210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64646"/>
                </a:solidFill>
                <a:latin typeface="Arial MT"/>
                <a:cs typeface="Arial MT"/>
              </a:rPr>
              <a:t>business).</a:t>
            </a:r>
            <a:r>
              <a:rPr sz="2550" spc="459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44444"/>
                </a:solidFill>
                <a:latin typeface="Arial MT"/>
                <a:cs typeface="Arial MT"/>
              </a:rPr>
              <a:t>This</a:t>
            </a:r>
            <a:r>
              <a:rPr sz="2550" spc="34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2550" spc="55" dirty="0">
                <a:solidFill>
                  <a:srgbClr val="484848"/>
                </a:solidFill>
                <a:latin typeface="Arial MT"/>
                <a:cs typeface="Arial MT"/>
              </a:rPr>
              <a:t>prioritizes</a:t>
            </a:r>
            <a:r>
              <a:rPr sz="2550" spc="440" dirty="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64646"/>
                </a:solidFill>
                <a:latin typeface="Arial MT"/>
                <a:cs typeface="Arial MT"/>
              </a:rPr>
              <a:t>mitigation</a:t>
            </a:r>
            <a:r>
              <a:rPr sz="2550" spc="42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50" spc="50" dirty="0">
                <a:solidFill>
                  <a:srgbClr val="494949"/>
                </a:solidFill>
                <a:latin typeface="Arial MT"/>
                <a:cs typeface="Arial MT"/>
              </a:rPr>
              <a:t>efforts</a:t>
            </a:r>
            <a:r>
              <a:rPr sz="2550" spc="280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550" spc="70" dirty="0">
                <a:solidFill>
                  <a:srgbClr val="4B4B4B"/>
                </a:solidFill>
                <a:latin typeface="Arial MT"/>
                <a:cs typeface="Arial MT"/>
              </a:rPr>
              <a:t>toward</a:t>
            </a:r>
            <a:r>
              <a:rPr sz="2550" spc="225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550" spc="65" dirty="0">
                <a:solidFill>
                  <a:srgbClr val="464646"/>
                </a:solidFill>
                <a:latin typeface="Arial MT"/>
                <a:cs typeface="Arial MT"/>
              </a:rPr>
              <a:t>high-</a:t>
            </a:r>
            <a:r>
              <a:rPr sz="2550" spc="55" dirty="0">
                <a:solidFill>
                  <a:srgbClr val="464646"/>
                </a:solidFill>
                <a:latin typeface="Arial MT"/>
                <a:cs typeface="Arial MT"/>
              </a:rPr>
              <a:t>risk</a:t>
            </a:r>
            <a:r>
              <a:rPr sz="2550" spc="45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3A3A3A"/>
                </a:solidFill>
                <a:latin typeface="Arial MT"/>
                <a:cs typeface="Arial MT"/>
              </a:rPr>
              <a:t>areas.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430164" y="2432252"/>
            <a:ext cx="4533265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65" dirty="0">
                <a:solidFill>
                  <a:srgbClr val="4B4B4B"/>
                </a:solidFill>
                <a:latin typeface="Arial MT"/>
                <a:cs typeface="Arial MT"/>
              </a:rPr>
              <a:t>Impact**</a:t>
            </a:r>
            <a:r>
              <a:rPr sz="2550" spc="405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505050"/>
                </a:solidFill>
                <a:latin typeface="Arial MT"/>
                <a:cs typeface="Arial MT"/>
              </a:rPr>
              <a:t>(potential</a:t>
            </a:r>
            <a:r>
              <a:rPr sz="2550" spc="360" dirty="0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3D5B79"/>
                </a:solidFill>
                <a:latin typeface="Arial MT"/>
                <a:cs typeface="Arial MT"/>
              </a:rPr>
              <a:t>damage</a:t>
            </a:r>
            <a:r>
              <a:rPr sz="2550" spc="275" dirty="0">
                <a:solidFill>
                  <a:srgbClr val="3D5B79"/>
                </a:solidFill>
                <a:latin typeface="Arial MT"/>
                <a:cs typeface="Arial MT"/>
              </a:rPr>
              <a:t> </a:t>
            </a:r>
            <a:r>
              <a:rPr sz="2550" spc="75" dirty="0">
                <a:solidFill>
                  <a:srgbClr val="565656"/>
                </a:solidFill>
                <a:latin typeface="Arial MT"/>
                <a:cs typeface="Arial MT"/>
              </a:rPr>
              <a:t>to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29644" y="5589223"/>
            <a:ext cx="3543935" cy="9836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2384" marR="5080" indent="-20320">
              <a:lnSpc>
                <a:spcPct val="123300"/>
              </a:lnSpc>
              <a:spcBef>
                <a:spcPts val="90"/>
              </a:spcBef>
            </a:pPr>
            <a:r>
              <a:rPr sz="2550" spc="-130" dirty="0">
                <a:solidFill>
                  <a:srgbClr val="495672"/>
                </a:solidFill>
                <a:latin typeface="Arial MT"/>
                <a:cs typeface="Arial MT"/>
              </a:rPr>
              <a:t>1.</a:t>
            </a:r>
            <a:r>
              <a:rPr sz="2550" spc="-30" dirty="0">
                <a:solidFill>
                  <a:srgbClr val="495672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D5672"/>
                </a:solidFill>
                <a:latin typeface="Arial MT"/>
                <a:cs typeface="Arial MT"/>
              </a:rPr>
              <a:t>Phishing</a:t>
            </a:r>
            <a:r>
              <a:rPr sz="2550" spc="225" dirty="0">
                <a:solidFill>
                  <a:srgbClr val="4D5672"/>
                </a:solidFill>
                <a:latin typeface="Arial MT"/>
                <a:cs typeface="Arial MT"/>
              </a:rPr>
              <a:t> </a:t>
            </a:r>
            <a:r>
              <a:rPr sz="2550" spc="-85" dirty="0">
                <a:solidFill>
                  <a:srgbClr val="485674"/>
                </a:solidFill>
                <a:latin typeface="Arial MT"/>
                <a:cs typeface="Arial MT"/>
              </a:rPr>
              <a:t>&amp;</a:t>
            </a:r>
            <a:r>
              <a:rPr sz="2550" spc="-45" dirty="0">
                <a:solidFill>
                  <a:srgbClr val="485674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3A5470"/>
                </a:solidFill>
                <a:latin typeface="Arial MT"/>
                <a:cs typeface="Arial MT"/>
              </a:rPr>
              <a:t>Credential </a:t>
            </a:r>
            <a:r>
              <a:rPr sz="2550" spc="65" dirty="0">
                <a:solidFill>
                  <a:srgbClr val="49566E"/>
                </a:solidFill>
                <a:latin typeface="Arial MT"/>
                <a:cs typeface="Arial MT"/>
              </a:rPr>
              <a:t>Theft</a:t>
            </a:r>
            <a:r>
              <a:rPr sz="2550" spc="120" dirty="0">
                <a:solidFill>
                  <a:srgbClr val="49566E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95667"/>
                </a:solidFill>
                <a:latin typeface="Arial MT"/>
                <a:cs typeface="Arial MT"/>
              </a:rPr>
              <a:t>(No</a:t>
            </a:r>
            <a:r>
              <a:rPr sz="2550" spc="-80" dirty="0">
                <a:solidFill>
                  <a:srgbClr val="495667"/>
                </a:solidFill>
                <a:latin typeface="Arial MT"/>
                <a:cs typeface="Arial MT"/>
              </a:rPr>
              <a:t> </a:t>
            </a:r>
            <a:r>
              <a:rPr sz="2550" spc="-20" dirty="0">
                <a:solidFill>
                  <a:srgbClr val="4B4B4B"/>
                </a:solidFill>
                <a:latin typeface="Arial MT"/>
                <a:cs typeface="Arial MT"/>
              </a:rPr>
              <a:t>MFA)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55730" y="5652048"/>
            <a:ext cx="2449830" cy="857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540">
              <a:lnSpc>
                <a:spcPct val="107100"/>
              </a:lnSpc>
              <a:spcBef>
                <a:spcPts val="95"/>
              </a:spcBef>
            </a:pPr>
            <a:r>
              <a:rPr sz="2550" spc="-370" dirty="0">
                <a:solidFill>
                  <a:srgbClr val="3D3D3D"/>
                </a:solidFill>
                <a:latin typeface="Arial MT"/>
                <a:cs typeface="Arial MT"/>
              </a:rPr>
              <a:t>Easy</a:t>
            </a:r>
            <a:r>
              <a:rPr sz="2550" spc="85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2550" spc="-135" dirty="0">
                <a:solidFill>
                  <a:srgbClr val="A7B8C6"/>
                </a:solidFill>
                <a:latin typeface="Arial MT"/>
                <a:cs typeface="Arial MT"/>
              </a:rPr>
              <a:t>to</a:t>
            </a:r>
            <a:r>
              <a:rPr sz="2550" spc="-45" dirty="0">
                <a:solidFill>
                  <a:srgbClr val="A7B8C6"/>
                </a:solidFill>
                <a:latin typeface="Arial MT"/>
                <a:cs typeface="Arial MT"/>
              </a:rPr>
              <a:t> </a:t>
            </a:r>
            <a:r>
              <a:rPr sz="2550" spc="-185" dirty="0">
                <a:solidFill>
                  <a:srgbClr val="414141"/>
                </a:solidFill>
                <a:latin typeface="Arial MT"/>
                <a:cs typeface="Arial MT"/>
              </a:rPr>
              <a:t>deploy;</a:t>
            </a:r>
            <a:r>
              <a:rPr sz="2550" spc="55" dirty="0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sz="2550" spc="-204" dirty="0">
                <a:solidFill>
                  <a:srgbClr val="444444"/>
                </a:solidFill>
                <a:latin typeface="Arial MT"/>
                <a:cs typeface="Arial MT"/>
              </a:rPr>
              <a:t>staff </a:t>
            </a:r>
            <a:r>
              <a:rPr sz="2550" spc="-145" dirty="0">
                <a:solidFill>
                  <a:srgbClr val="414141"/>
                </a:solidFill>
                <a:latin typeface="Arial MT"/>
                <a:cs typeface="Arial MT"/>
              </a:rPr>
              <a:t>untrained.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63433" y="7316920"/>
            <a:ext cx="3756025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dirty="0">
                <a:solidFill>
                  <a:srgbClr val="484848"/>
                </a:solidFill>
                <a:latin typeface="Arial MT"/>
                <a:cs typeface="Arial MT"/>
              </a:rPr>
              <a:t>2.</a:t>
            </a:r>
            <a:r>
              <a:rPr sz="2550" spc="-130" dirty="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B506B"/>
                </a:solidFill>
                <a:latin typeface="Arial MT"/>
                <a:cs typeface="Arial MT"/>
              </a:rPr>
              <a:t>Ransomware</a:t>
            </a:r>
            <a:r>
              <a:rPr sz="2550" spc="260" dirty="0">
                <a:solidFill>
                  <a:srgbClr val="4B506B"/>
                </a:solidFill>
                <a:latin typeface="Arial MT"/>
                <a:cs typeface="Arial MT"/>
              </a:rPr>
              <a:t> </a:t>
            </a:r>
            <a:r>
              <a:rPr sz="2550" spc="90" dirty="0">
                <a:solidFill>
                  <a:srgbClr val="4B4B4B"/>
                </a:solidFill>
                <a:latin typeface="Arial MT"/>
                <a:cs typeface="Arial MT"/>
              </a:rPr>
              <a:t>Infection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51531" y="8345684"/>
            <a:ext cx="2759075" cy="10464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970" marR="5080" indent="-1905">
              <a:lnSpc>
                <a:spcPct val="131400"/>
              </a:lnSpc>
              <a:spcBef>
                <a:spcPts val="90"/>
              </a:spcBef>
            </a:pPr>
            <a:r>
              <a:rPr sz="2550" spc="100" dirty="0">
                <a:solidFill>
                  <a:srgbClr val="525669"/>
                </a:solidFill>
                <a:latin typeface="Arial MT"/>
                <a:cs typeface="Arial MT"/>
              </a:rPr>
              <a:t>3.</a:t>
            </a:r>
            <a:r>
              <a:rPr sz="2550" spc="-170" dirty="0">
                <a:solidFill>
                  <a:srgbClr val="525669"/>
                </a:solidFill>
                <a:latin typeface="Arial MT"/>
                <a:cs typeface="Arial MT"/>
              </a:rPr>
              <a:t> </a:t>
            </a:r>
            <a:r>
              <a:rPr sz="2550" spc="-30" dirty="0">
                <a:solidFill>
                  <a:srgbClr val="494949"/>
                </a:solidFill>
                <a:latin typeface="Arial MT"/>
                <a:cs typeface="Arial MT"/>
              </a:rPr>
              <a:t>DDoS</a:t>
            </a:r>
            <a:r>
              <a:rPr sz="2550" spc="15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550" spc="80" dirty="0">
                <a:solidFill>
                  <a:srgbClr val="464646"/>
                </a:solidFill>
                <a:latin typeface="Arial MT"/>
                <a:cs typeface="Arial MT"/>
              </a:rPr>
              <a:t>Attack</a:t>
            </a:r>
            <a:r>
              <a:rPr sz="255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50" spc="25" dirty="0">
                <a:solidFill>
                  <a:srgbClr val="41566E"/>
                </a:solidFill>
                <a:latin typeface="Arial MT"/>
                <a:cs typeface="Arial MT"/>
              </a:rPr>
              <a:t>on </a:t>
            </a:r>
            <a:r>
              <a:rPr sz="2550" spc="-10" dirty="0">
                <a:solidFill>
                  <a:srgbClr val="464646"/>
                </a:solidFill>
                <a:latin typeface="Arial MT"/>
                <a:cs typeface="Arial MT"/>
              </a:rPr>
              <a:t>Website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56982" y="7057765"/>
            <a:ext cx="2734310" cy="857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175">
              <a:lnSpc>
                <a:spcPct val="107100"/>
              </a:lnSpc>
              <a:spcBef>
                <a:spcPts val="95"/>
              </a:spcBef>
            </a:pPr>
            <a:r>
              <a:rPr sz="2550" spc="-350" dirty="0">
                <a:solidFill>
                  <a:srgbClr val="464646"/>
                </a:solidFill>
                <a:latin typeface="Arial MT"/>
                <a:cs typeface="Arial MT"/>
              </a:rPr>
              <a:t>Common</a:t>
            </a:r>
            <a:r>
              <a:rPr sz="2550" spc="6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50" spc="-300" dirty="0">
                <a:solidFill>
                  <a:srgbClr val="424242"/>
                </a:solidFill>
                <a:latin typeface="Arial MT"/>
                <a:cs typeface="Arial MT"/>
              </a:rPr>
              <a:t>automated </a:t>
            </a:r>
            <a:r>
              <a:rPr sz="2550" spc="-210" dirty="0">
                <a:solidFill>
                  <a:srgbClr val="444444"/>
                </a:solidFill>
                <a:latin typeface="Arial MT"/>
                <a:cs typeface="Arial MT"/>
              </a:rPr>
              <a:t>attacks;</a:t>
            </a:r>
            <a:r>
              <a:rPr sz="2550" spc="7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2550" spc="-265" dirty="0">
                <a:solidFill>
                  <a:srgbClr val="414141"/>
                </a:solidFill>
                <a:latin typeface="Arial MT"/>
                <a:cs typeface="Arial MT"/>
              </a:rPr>
              <a:t>data</a:t>
            </a:r>
            <a:r>
              <a:rPr sz="2550" spc="-5" dirty="0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sz="2550" spc="-180" dirty="0">
                <a:solidFill>
                  <a:srgbClr val="464646"/>
                </a:solidFill>
                <a:latin typeface="Arial MT"/>
                <a:cs typeface="Arial MT"/>
              </a:rPr>
              <a:t>is</a:t>
            </a:r>
            <a:r>
              <a:rPr sz="2550" spc="-2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50" spc="-150" dirty="0">
                <a:solidFill>
                  <a:srgbClr val="464646"/>
                </a:solidFill>
                <a:latin typeface="Arial MT"/>
                <a:cs typeface="Arial MT"/>
              </a:rPr>
              <a:t>critical.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59405" y="8377751"/>
            <a:ext cx="3228975" cy="91503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925"/>
              </a:spcBef>
            </a:pPr>
            <a:r>
              <a:rPr sz="2050" spc="-20" dirty="0">
                <a:solidFill>
                  <a:srgbClr val="3D3D3D"/>
                </a:solidFill>
                <a:latin typeface="Arial MT"/>
                <a:cs typeface="Arial MT"/>
              </a:rPr>
              <a:t>Requires</a:t>
            </a:r>
            <a:r>
              <a:rPr sz="2050" spc="265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494949"/>
                </a:solidFill>
                <a:latin typeface="Arial MT"/>
                <a:cs typeface="Arial MT"/>
              </a:rPr>
              <a:t>specific</a:t>
            </a:r>
            <a:r>
              <a:rPr sz="2050" spc="140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550" spc="-185" dirty="0">
                <a:solidFill>
                  <a:srgbClr val="494949"/>
                </a:solidFill>
                <a:latin typeface="Arial MT"/>
                <a:cs typeface="Arial MT"/>
              </a:rPr>
              <a:t>targeting;</a:t>
            </a:r>
            <a:endParaRPr sz="25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2050" dirty="0">
                <a:solidFill>
                  <a:srgbClr val="3D3D3D"/>
                </a:solidFill>
                <a:latin typeface="Arial MT"/>
                <a:cs typeface="Arial MT"/>
              </a:rPr>
              <a:t>may</a:t>
            </a:r>
            <a:r>
              <a:rPr sz="2050" spc="245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484848"/>
                </a:solidFill>
                <a:latin typeface="Arial MT"/>
                <a:cs typeface="Arial MT"/>
              </a:rPr>
              <a:t>block</a:t>
            </a:r>
            <a:r>
              <a:rPr sz="2050" spc="365" dirty="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sz="2050" spc="-10" dirty="0">
                <a:solidFill>
                  <a:srgbClr val="3F3F3F"/>
                </a:solidFill>
                <a:latin typeface="Arial MT"/>
                <a:cs typeface="Arial MT"/>
              </a:rPr>
              <a:t>sales.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529664" y="5556502"/>
            <a:ext cx="1119505" cy="10464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8260" marR="5080" indent="-36195">
              <a:lnSpc>
                <a:spcPct val="119600"/>
              </a:lnSpc>
              <a:spcBef>
                <a:spcPts val="90"/>
              </a:spcBef>
            </a:pPr>
            <a:r>
              <a:rPr sz="2800" spc="-85" dirty="0">
                <a:solidFill>
                  <a:srgbClr val="AA2126"/>
                </a:solidFill>
                <a:latin typeface="Arial MT"/>
                <a:cs typeface="Arial MT"/>
              </a:rPr>
              <a:t>5</a:t>
            </a:r>
            <a:r>
              <a:rPr sz="2800" spc="-165" dirty="0">
                <a:solidFill>
                  <a:srgbClr val="AA2126"/>
                </a:solidFill>
                <a:latin typeface="Arial MT"/>
                <a:cs typeface="Arial MT"/>
              </a:rPr>
              <a:t> </a:t>
            </a:r>
            <a:r>
              <a:rPr sz="2800" spc="-50" dirty="0">
                <a:solidFill>
                  <a:srgbClr val="C4181D"/>
                </a:solidFill>
                <a:latin typeface="Arial MT"/>
                <a:cs typeface="Arial MT"/>
              </a:rPr>
              <a:t>(Very </a:t>
            </a:r>
            <a:r>
              <a:rPr sz="2800" spc="-10" dirty="0">
                <a:solidFill>
                  <a:srgbClr val="B51C11"/>
                </a:solidFill>
                <a:latin typeface="Arial MT"/>
                <a:cs typeface="Arial MT"/>
              </a:rPr>
              <a:t>Likely)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707503" y="5556502"/>
            <a:ext cx="3377565" cy="10464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86510" marR="5080" indent="-1274445">
              <a:lnSpc>
                <a:spcPct val="119600"/>
              </a:lnSpc>
              <a:spcBef>
                <a:spcPts val="90"/>
              </a:spcBef>
            </a:pPr>
            <a:r>
              <a:rPr sz="2800" dirty="0">
                <a:solidFill>
                  <a:srgbClr val="AF6011"/>
                </a:solidFill>
                <a:latin typeface="Arial MT"/>
                <a:cs typeface="Arial MT"/>
              </a:rPr>
              <a:t>4</a:t>
            </a:r>
            <a:r>
              <a:rPr sz="2800" spc="-95" dirty="0">
                <a:solidFill>
                  <a:srgbClr val="AF6011"/>
                </a:solidFill>
                <a:latin typeface="Arial MT"/>
                <a:cs typeface="Arial MT"/>
              </a:rPr>
              <a:t> </a:t>
            </a:r>
            <a:r>
              <a:rPr sz="2800" spc="-85" dirty="0">
                <a:solidFill>
                  <a:srgbClr val="A77954"/>
                </a:solidFill>
                <a:latin typeface="Arial MT"/>
                <a:cs typeface="Arial MT"/>
              </a:rPr>
              <a:t>(Significant</a:t>
            </a:r>
            <a:r>
              <a:rPr sz="2800" spc="130" dirty="0">
                <a:solidFill>
                  <a:srgbClr val="A77954"/>
                </a:solidFill>
                <a:latin typeface="Arial MT"/>
                <a:cs typeface="Arial MT"/>
              </a:rPr>
              <a:t> </a:t>
            </a:r>
            <a:r>
              <a:rPr sz="2800" spc="-105" dirty="0">
                <a:solidFill>
                  <a:srgbClr val="B34601"/>
                </a:solidFill>
                <a:latin typeface="Arial MT"/>
                <a:cs typeface="Arial MT"/>
              </a:rPr>
              <a:t>Financial </a:t>
            </a:r>
            <a:r>
              <a:rPr sz="2800" spc="-10" dirty="0">
                <a:solidFill>
                  <a:srgbClr val="B8591C"/>
                </a:solidFill>
                <a:latin typeface="Arial MT"/>
                <a:cs typeface="Arial MT"/>
              </a:rPr>
              <a:t>Loss)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406942" y="7316920"/>
            <a:ext cx="135763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80" dirty="0">
                <a:solidFill>
                  <a:srgbClr val="D37C46"/>
                </a:solidFill>
                <a:latin typeface="Arial MT"/>
                <a:cs typeface="Arial MT"/>
              </a:rPr>
              <a:t>4</a:t>
            </a:r>
            <a:r>
              <a:rPr sz="2550" spc="130" dirty="0">
                <a:solidFill>
                  <a:srgbClr val="D37C46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B37C3D"/>
                </a:solidFill>
                <a:latin typeface="Arial MT"/>
                <a:cs typeface="Arial MT"/>
              </a:rPr>
              <a:t>(Likely)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252195" y="8722635"/>
            <a:ext cx="1669414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89255" algn="l"/>
              </a:tabLst>
            </a:pPr>
            <a:r>
              <a:rPr sz="3825" spc="-75" baseline="1089" dirty="0">
                <a:solidFill>
                  <a:srgbClr val="035B52"/>
                </a:solidFill>
                <a:latin typeface="Arial MT"/>
                <a:cs typeface="Arial MT"/>
              </a:rPr>
              <a:t>2</a:t>
            </a:r>
            <a:r>
              <a:rPr sz="3825" baseline="1089" dirty="0">
                <a:solidFill>
                  <a:srgbClr val="035B52"/>
                </a:solidFill>
                <a:latin typeface="Arial MT"/>
                <a:cs typeface="Arial MT"/>
              </a:rPr>
              <a:t>	</a:t>
            </a:r>
            <a:r>
              <a:rPr sz="2550" spc="-10" dirty="0">
                <a:solidFill>
                  <a:srgbClr val="347269"/>
                </a:solidFill>
                <a:latin typeface="Arial MT"/>
                <a:cs typeface="Arial MT"/>
              </a:rPr>
              <a:t>Unlikely)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710385" y="6963527"/>
            <a:ext cx="3348354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804545">
              <a:lnSpc>
                <a:spcPct val="129299"/>
              </a:lnSpc>
              <a:spcBef>
                <a:spcPts val="95"/>
              </a:spcBef>
            </a:pPr>
            <a:r>
              <a:rPr sz="2550" spc="70" dirty="0">
                <a:solidFill>
                  <a:srgbClr val="AA282A"/>
                </a:solidFill>
                <a:latin typeface="Arial MT"/>
                <a:cs typeface="Arial MT"/>
              </a:rPr>
              <a:t>5</a:t>
            </a:r>
            <a:r>
              <a:rPr sz="2550" spc="-85" dirty="0">
                <a:solidFill>
                  <a:srgbClr val="AA282A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B81A2D"/>
                </a:solidFill>
                <a:latin typeface="Arial MT"/>
                <a:cs typeface="Arial MT"/>
              </a:rPr>
              <a:t>(Business </a:t>
            </a:r>
            <a:r>
              <a:rPr sz="2550" spc="95" dirty="0">
                <a:solidFill>
                  <a:srgbClr val="C11C1A"/>
                </a:solidFill>
                <a:latin typeface="Arial MT"/>
                <a:cs typeface="Arial MT"/>
              </a:rPr>
              <a:t>Disrupting/Total</a:t>
            </a:r>
            <a:r>
              <a:rPr sz="2550" spc="-390" dirty="0">
                <a:solidFill>
                  <a:srgbClr val="C11C1A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B5110F"/>
                </a:solidFill>
                <a:latin typeface="Arial MT"/>
                <a:cs typeface="Arial MT"/>
              </a:rPr>
              <a:t>Loss)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065003" y="8393279"/>
            <a:ext cx="2657475" cy="99758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5240" algn="ctr">
              <a:lnSpc>
                <a:spcPct val="100000"/>
              </a:lnSpc>
              <a:spcBef>
                <a:spcPts val="680"/>
              </a:spcBef>
            </a:pPr>
            <a:r>
              <a:rPr sz="2550" dirty="0">
                <a:solidFill>
                  <a:srgbClr val="A1541C"/>
                </a:solidFill>
                <a:latin typeface="Arial MT"/>
                <a:cs typeface="Arial MT"/>
              </a:rPr>
              <a:t>3</a:t>
            </a:r>
            <a:r>
              <a:rPr sz="2550" spc="105" dirty="0">
                <a:solidFill>
                  <a:srgbClr val="A1541C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B36236"/>
                </a:solidFill>
                <a:latin typeface="Arial MT"/>
                <a:cs typeface="Arial MT"/>
              </a:rPr>
              <a:t>(Loss</a:t>
            </a:r>
            <a:r>
              <a:rPr sz="2550" spc="235" dirty="0">
                <a:solidFill>
                  <a:srgbClr val="B36236"/>
                </a:solidFill>
                <a:latin typeface="Arial MT"/>
                <a:cs typeface="Arial MT"/>
              </a:rPr>
              <a:t> </a:t>
            </a:r>
            <a:r>
              <a:rPr sz="2550" spc="-25" dirty="0">
                <a:solidFill>
                  <a:srgbClr val="8E602F"/>
                </a:solidFill>
                <a:latin typeface="Arial MT"/>
                <a:cs typeface="Arial MT"/>
              </a:rPr>
              <a:t>of</a:t>
            </a:r>
            <a:endParaRPr sz="25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645"/>
              </a:spcBef>
            </a:pPr>
            <a:r>
              <a:rPr sz="2800" spc="-90" dirty="0">
                <a:solidFill>
                  <a:srgbClr val="A85613"/>
                </a:solidFill>
                <a:latin typeface="Arial MT"/>
                <a:cs typeface="Arial MT"/>
              </a:rPr>
              <a:t>Sales/Reputation)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67468" y="10144059"/>
            <a:ext cx="463042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i="1" dirty="0">
                <a:solidFill>
                  <a:srgbClr val="4D4D4D"/>
                </a:solidFill>
                <a:latin typeface="Arial"/>
                <a:cs typeface="Arial"/>
              </a:rPr>
              <a:t>The</a:t>
            </a:r>
            <a:r>
              <a:rPr sz="2550" i="1" spc="14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550" i="1" dirty="0">
                <a:solidFill>
                  <a:srgbClr val="4B4B4B"/>
                </a:solidFill>
                <a:latin typeface="Arial"/>
                <a:cs typeface="Arial"/>
              </a:rPr>
              <a:t>highest</a:t>
            </a:r>
            <a:r>
              <a:rPr sz="2550" i="1" spc="31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2550" i="1" spc="60" dirty="0">
                <a:solidFill>
                  <a:srgbClr val="494949"/>
                </a:solidFill>
                <a:latin typeface="Arial"/>
                <a:cs typeface="Arial"/>
              </a:rPr>
              <a:t>scores</a:t>
            </a:r>
            <a:r>
              <a:rPr sz="2550" i="1" spc="375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2550" i="1" spc="-45" dirty="0">
                <a:solidFill>
                  <a:srgbClr val="444444"/>
                </a:solidFill>
                <a:latin typeface="Arial"/>
                <a:cs typeface="Arial"/>
              </a:rPr>
              <a:t>(15-</a:t>
            </a:r>
            <a:r>
              <a:rPr sz="2550" i="1" dirty="0">
                <a:solidFill>
                  <a:srgbClr val="444444"/>
                </a:solidFill>
                <a:latin typeface="Arial"/>
                <a:cs typeface="Arial"/>
              </a:rPr>
              <a:t>25)</a:t>
            </a:r>
            <a:r>
              <a:rPr sz="2550" i="1" spc="13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550" i="1" spc="-25" dirty="0">
                <a:solidFill>
                  <a:srgbClr val="494949"/>
                </a:solidFill>
                <a:latin typeface="Arial"/>
                <a:cs typeface="Arial"/>
              </a:rPr>
              <a:t>are</a:t>
            </a:r>
            <a:endParaRPr sz="25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887040" y="10144059"/>
            <a:ext cx="8507095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i="1" dirty="0">
                <a:solidFill>
                  <a:srgbClr val="494949"/>
                </a:solidFill>
                <a:latin typeface="Arial"/>
                <a:cs typeface="Arial"/>
              </a:rPr>
              <a:t>+CriticaI</a:t>
            </a:r>
            <a:r>
              <a:rPr sz="2550" i="1" spc="275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2550" i="1" spc="95" dirty="0">
                <a:solidFill>
                  <a:srgbClr val="4F4F4F"/>
                </a:solidFill>
                <a:latin typeface="Arial"/>
                <a:cs typeface="Arial"/>
              </a:rPr>
              <a:t>Risk””</a:t>
            </a:r>
            <a:r>
              <a:rPr sz="2550" i="1" spc="409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2550" i="1" dirty="0">
                <a:solidFill>
                  <a:srgbClr val="4D4D4D"/>
                </a:solidFill>
                <a:latin typeface="Arial"/>
                <a:cs typeface="Arial"/>
              </a:rPr>
              <a:t>and</a:t>
            </a:r>
            <a:r>
              <a:rPr sz="2550" i="1" spc="175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550" i="1" spc="60" dirty="0">
                <a:solidFill>
                  <a:srgbClr val="464646"/>
                </a:solidFill>
                <a:latin typeface="Arial"/>
                <a:cs typeface="Arial"/>
              </a:rPr>
              <a:t>require</a:t>
            </a:r>
            <a:r>
              <a:rPr sz="2550" i="1" spc="35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2550" i="1" dirty="0">
                <a:solidFill>
                  <a:srgbClr val="4D4D4D"/>
                </a:solidFill>
                <a:latin typeface="Arial"/>
                <a:cs typeface="Arial"/>
              </a:rPr>
              <a:t>immediate</a:t>
            </a:r>
            <a:r>
              <a:rPr sz="2550" i="1" spc="505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550" i="1" dirty="0">
                <a:solidFill>
                  <a:srgbClr val="484848"/>
                </a:solidFill>
                <a:latin typeface="Arial"/>
                <a:cs typeface="Arial"/>
              </a:rPr>
              <a:t>mitigation</a:t>
            </a:r>
            <a:r>
              <a:rPr sz="2550" i="1" spc="420" dirty="0">
                <a:solidFill>
                  <a:srgbClr val="484848"/>
                </a:solidFill>
                <a:latin typeface="Arial"/>
                <a:cs typeface="Arial"/>
              </a:rPr>
              <a:t> </a:t>
            </a:r>
            <a:r>
              <a:rPr sz="2550" i="1" spc="40" dirty="0">
                <a:solidFill>
                  <a:srgbClr val="424242"/>
                </a:solidFill>
                <a:latin typeface="Arial"/>
                <a:cs typeface="Arial"/>
              </a:rPr>
              <a:t>efforts.</a:t>
            </a:r>
            <a:endParaRPr sz="25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392261" y="5919056"/>
            <a:ext cx="422275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b="1" spc="-120" dirty="0">
                <a:solidFill>
                  <a:srgbClr val="C31F2A"/>
                </a:solidFill>
                <a:latin typeface="Arial"/>
                <a:cs typeface="Arial"/>
              </a:rPr>
              <a:t>2O</a:t>
            </a:r>
            <a:endParaRPr sz="25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829900" y="5919056"/>
            <a:ext cx="1110615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b="1" spc="-10" dirty="0">
                <a:solidFill>
                  <a:srgbClr val="B1181A"/>
                </a:solidFill>
                <a:latin typeface="Arial"/>
                <a:cs typeface="Arial"/>
              </a:rPr>
              <a:t>Critical</a:t>
            </a:r>
            <a:endParaRPr sz="25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390722" y="7316920"/>
            <a:ext cx="422275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-120" dirty="0">
                <a:solidFill>
                  <a:srgbClr val="B31611"/>
                </a:solidFill>
                <a:latin typeface="Arial MT"/>
                <a:cs typeface="Arial MT"/>
              </a:rPr>
              <a:t>2O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829099" y="7316920"/>
            <a:ext cx="111506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80" dirty="0">
                <a:solidFill>
                  <a:srgbClr val="AC2824"/>
                </a:solidFill>
                <a:latin typeface="Arial MT"/>
                <a:cs typeface="Arial MT"/>
              </a:rPr>
              <a:t>Critical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498059" y="8714782"/>
            <a:ext cx="207645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-50" dirty="0">
                <a:solidFill>
                  <a:srgbClr val="A74D11"/>
                </a:solidFill>
                <a:latin typeface="Arial MT"/>
                <a:cs typeface="Arial MT"/>
              </a:rPr>
              <a:t>6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072727" y="8714782"/>
            <a:ext cx="61976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-25" dirty="0">
                <a:solidFill>
                  <a:srgbClr val="05594B"/>
                </a:solidFill>
                <a:latin typeface="Arial MT"/>
                <a:cs typeface="Arial MT"/>
              </a:rPr>
              <a:t>Low</a:t>
            </a:r>
            <a:endParaRPr sz="2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508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95"/>
              </a:spcBef>
            </a:pPr>
            <a:r>
              <a:rPr b="0" spc="315" dirty="0">
                <a:solidFill>
                  <a:srgbClr val="1F3890"/>
                </a:solidFill>
                <a:latin typeface="Arial MT"/>
                <a:cs typeface="Arial MT"/>
              </a:rPr>
              <a:t>Mitigation</a:t>
            </a:r>
            <a:r>
              <a:rPr b="0" spc="70" dirty="0">
                <a:solidFill>
                  <a:srgbClr val="1F3890"/>
                </a:solidFill>
                <a:latin typeface="Arial MT"/>
                <a:cs typeface="Arial MT"/>
              </a:rPr>
              <a:t> </a:t>
            </a:r>
            <a:r>
              <a:rPr b="0" spc="114" dirty="0">
                <a:solidFill>
                  <a:srgbClr val="1C3B8E"/>
                </a:solidFill>
                <a:latin typeface="Arial MT"/>
                <a:cs typeface="Arial MT"/>
              </a:rPr>
              <a:t>Strategies:</a:t>
            </a:r>
            <a:r>
              <a:rPr b="0" spc="-35" dirty="0">
                <a:solidFill>
                  <a:srgbClr val="1C3B8E"/>
                </a:solidFill>
                <a:latin typeface="Arial MT"/>
                <a:cs typeface="Arial MT"/>
              </a:rPr>
              <a:t> </a:t>
            </a:r>
            <a:r>
              <a:rPr b="0" spc="130" dirty="0">
                <a:solidFill>
                  <a:srgbClr val="1F3A85"/>
                </a:solidFill>
                <a:latin typeface="Arial MT"/>
                <a:cs typeface="Arial MT"/>
              </a:rPr>
              <a:t>Technical</a:t>
            </a:r>
            <a:r>
              <a:rPr b="0" dirty="0">
                <a:solidFill>
                  <a:srgbClr val="1F3A85"/>
                </a:solidFill>
                <a:latin typeface="Arial MT"/>
                <a:cs typeface="Arial MT"/>
              </a:rPr>
              <a:t> </a:t>
            </a:r>
            <a:r>
              <a:rPr b="0" spc="175" dirty="0">
                <a:solidFill>
                  <a:srgbClr val="1D3B8A"/>
                </a:solidFill>
                <a:latin typeface="Arial MT"/>
                <a:cs typeface="Arial MT"/>
              </a:rPr>
              <a:t>Controls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31445" y="3970163"/>
            <a:ext cx="7897495" cy="3612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95910">
              <a:lnSpc>
                <a:spcPct val="100000"/>
              </a:lnSpc>
              <a:spcBef>
                <a:spcPts val="135"/>
              </a:spcBef>
            </a:pPr>
            <a:r>
              <a:rPr sz="2800" spc="-90" dirty="0">
                <a:solidFill>
                  <a:srgbClr val="417EEB"/>
                </a:solidFill>
                <a:latin typeface="Arial MT"/>
                <a:cs typeface="Arial MT"/>
              </a:rPr>
              <a:t>'</a:t>
            </a:r>
            <a:r>
              <a:rPr sz="2800" spc="-330" dirty="0">
                <a:solidFill>
                  <a:srgbClr val="417EEB"/>
                </a:solidFill>
                <a:latin typeface="Arial MT"/>
                <a:cs typeface="Arial MT"/>
              </a:rPr>
              <a:t> </a:t>
            </a:r>
            <a:r>
              <a:rPr sz="2800" spc="135" dirty="0">
                <a:latin typeface="Arial MT"/>
                <a:cs typeface="Arial MT"/>
              </a:rPr>
              <a:t>Identity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70" dirty="0">
                <a:latin typeface="Arial MT"/>
                <a:cs typeface="Arial MT"/>
              </a:rPr>
              <a:t>&amp;</a:t>
            </a:r>
            <a:r>
              <a:rPr sz="2800" spc="-125" dirty="0">
                <a:latin typeface="Arial MT"/>
                <a:cs typeface="Arial MT"/>
              </a:rPr>
              <a:t> </a:t>
            </a:r>
            <a:r>
              <a:rPr sz="2800" spc="60" dirty="0">
                <a:latin typeface="Arial MT"/>
                <a:cs typeface="Arial MT"/>
              </a:rPr>
              <a:t>Access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95" dirty="0">
                <a:latin typeface="Arial MT"/>
                <a:cs typeface="Arial MT"/>
              </a:rPr>
              <a:t>Management</a:t>
            </a:r>
            <a:endParaRPr sz="2800">
              <a:latin typeface="Arial MT"/>
              <a:cs typeface="Arial MT"/>
            </a:endParaRPr>
          </a:p>
          <a:p>
            <a:pPr marL="310515" marR="782955" indent="-298450">
              <a:lnSpc>
                <a:spcPct val="124100"/>
              </a:lnSpc>
              <a:spcBef>
                <a:spcPts val="1350"/>
              </a:spcBef>
              <a:buChar char="•"/>
              <a:tabLst>
                <a:tab pos="310515" algn="l"/>
                <a:tab pos="331470" algn="l"/>
              </a:tabLst>
            </a:pPr>
            <a:r>
              <a:rPr sz="2450" dirty="0">
                <a:solidFill>
                  <a:srgbClr val="49596B"/>
                </a:solidFill>
                <a:latin typeface="Arial MT"/>
                <a:cs typeface="Arial MT"/>
              </a:rPr>
              <a:t>	</a:t>
            </a:r>
            <a:r>
              <a:rPr sz="2450" spc="-254" dirty="0">
                <a:solidFill>
                  <a:srgbClr val="485462"/>
                </a:solidFill>
                <a:latin typeface="Arial MT"/>
                <a:cs typeface="Arial MT"/>
              </a:rPr>
              <a:t>a</a:t>
            </a:r>
            <a:r>
              <a:rPr sz="2450" spc="-335" dirty="0">
                <a:solidFill>
                  <a:srgbClr val="485462"/>
                </a:solidFill>
                <a:latin typeface="Arial MT"/>
                <a:cs typeface="Arial MT"/>
              </a:rPr>
              <a:t> </a:t>
            </a:r>
            <a:r>
              <a:rPr sz="2450" spc="-165" dirty="0">
                <a:solidFill>
                  <a:srgbClr val="4B5069"/>
                </a:solidFill>
                <a:latin typeface="Arial MT"/>
                <a:cs typeface="Arial MT"/>
              </a:rPr>
              <a:t>v</a:t>
            </a:r>
            <a:r>
              <a:rPr sz="2450" spc="-425" dirty="0">
                <a:solidFill>
                  <a:srgbClr val="4B5069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4B4B4B"/>
                </a:solidFill>
                <a:latin typeface="Arial MT"/>
                <a:cs typeface="Arial MT"/>
              </a:rPr>
              <a:t>Mandatory</a:t>
            </a:r>
            <a:r>
              <a:rPr sz="2450" spc="-85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450" spc="-45" dirty="0">
                <a:solidFill>
                  <a:srgbClr val="4D4D4D"/>
                </a:solidFill>
                <a:latin typeface="Arial MT"/>
                <a:cs typeface="Arial MT"/>
              </a:rPr>
              <a:t>Multi-</a:t>
            </a:r>
            <a:r>
              <a:rPr sz="2450" dirty="0">
                <a:solidFill>
                  <a:srgbClr val="4D4D4D"/>
                </a:solidFill>
                <a:latin typeface="Arial MT"/>
                <a:cs typeface="Arial MT"/>
              </a:rPr>
              <a:t>Factor</a:t>
            </a:r>
            <a:r>
              <a:rPr sz="2450" spc="125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4F4F4F"/>
                </a:solidFill>
                <a:latin typeface="Arial MT"/>
                <a:cs typeface="Arial MT"/>
              </a:rPr>
              <a:t>Authentication</a:t>
            </a:r>
            <a:r>
              <a:rPr sz="2450" spc="-50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A3C1DD"/>
                </a:solidFill>
                <a:latin typeface="Arial MT"/>
                <a:cs typeface="Arial MT"/>
              </a:rPr>
              <a:t>(MFA)</a:t>
            </a:r>
            <a:r>
              <a:rPr sz="2450" spc="-10" dirty="0">
                <a:solidFill>
                  <a:srgbClr val="3D3D3D"/>
                </a:solidFill>
                <a:latin typeface="Arial MT"/>
                <a:cs typeface="Arial MT"/>
              </a:rPr>
              <a:t>:*</a:t>
            </a:r>
            <a:r>
              <a:rPr sz="2450" spc="-10" dirty="0">
                <a:solidFill>
                  <a:srgbClr val="484848"/>
                </a:solidFill>
                <a:latin typeface="Arial MT"/>
                <a:cs typeface="Arial MT"/>
              </a:rPr>
              <a:t>* </a:t>
            </a:r>
            <a:r>
              <a:rPr sz="2450" spc="-60" dirty="0">
                <a:solidFill>
                  <a:srgbClr val="464646"/>
                </a:solidFill>
                <a:latin typeface="Arial MT"/>
                <a:cs typeface="Arial MT"/>
              </a:rPr>
              <a:t>Essential</a:t>
            </a:r>
            <a:r>
              <a:rPr sz="2450" spc="-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4B4B4B"/>
                </a:solidFill>
                <a:latin typeface="Arial MT"/>
                <a:cs typeface="Arial MT"/>
              </a:rPr>
              <a:t>for</a:t>
            </a:r>
            <a:r>
              <a:rPr sz="2450" spc="2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450" spc="-85" dirty="0">
                <a:solidFill>
                  <a:srgbClr val="415060"/>
                </a:solidFill>
                <a:latin typeface="Arial MT"/>
                <a:cs typeface="Arial MT"/>
              </a:rPr>
              <a:t>all </a:t>
            </a:r>
            <a:r>
              <a:rPr sz="2450" spc="-35" dirty="0">
                <a:solidFill>
                  <a:srgbClr val="484848"/>
                </a:solidFill>
                <a:latin typeface="Arial MT"/>
                <a:cs typeface="Arial MT"/>
              </a:rPr>
              <a:t>administrative</a:t>
            </a:r>
            <a:r>
              <a:rPr sz="2450" spc="-110" dirty="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sz="2450" spc="-45" dirty="0">
                <a:solidFill>
                  <a:srgbClr val="38526B"/>
                </a:solidFill>
                <a:latin typeface="Arial MT"/>
                <a:cs typeface="Arial MT"/>
              </a:rPr>
              <a:t>and</a:t>
            </a:r>
            <a:r>
              <a:rPr sz="2450" spc="-90" dirty="0">
                <a:solidFill>
                  <a:srgbClr val="38526B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4B4B4B"/>
                </a:solidFill>
                <a:latin typeface="Arial MT"/>
                <a:cs typeface="Arial MT"/>
              </a:rPr>
              <a:t>user</a:t>
            </a:r>
            <a:r>
              <a:rPr sz="2450" spc="3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494949"/>
                </a:solidFill>
                <a:latin typeface="Arial MT"/>
                <a:cs typeface="Arial MT"/>
              </a:rPr>
              <a:t>accounts.</a:t>
            </a:r>
            <a:endParaRPr sz="2450">
              <a:latin typeface="Arial MT"/>
              <a:cs typeface="Arial MT"/>
            </a:endParaRPr>
          </a:p>
          <a:p>
            <a:pPr marL="330200" indent="-316865">
              <a:lnSpc>
                <a:spcPct val="100000"/>
              </a:lnSpc>
              <a:spcBef>
                <a:spcPts val="1725"/>
              </a:spcBef>
              <a:buClr>
                <a:srgbClr val="495064"/>
              </a:buClr>
              <a:buChar char="•"/>
              <a:tabLst>
                <a:tab pos="330200" algn="l"/>
              </a:tabLst>
            </a:pPr>
            <a:r>
              <a:rPr sz="2300" dirty="0">
                <a:solidFill>
                  <a:srgbClr val="494949"/>
                </a:solidFill>
                <a:latin typeface="Arial MT"/>
                <a:cs typeface="Arial MT"/>
              </a:rPr>
              <a:t>'r'r</a:t>
            </a:r>
            <a:r>
              <a:rPr sz="2300" spc="-305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4B4B4B"/>
                </a:solidFill>
                <a:latin typeface="Arial MT"/>
                <a:cs typeface="Arial MT"/>
              </a:rPr>
              <a:t>Principle</a:t>
            </a:r>
            <a:r>
              <a:rPr sz="2300" spc="229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4D526E"/>
                </a:solidFill>
                <a:latin typeface="Arial MT"/>
                <a:cs typeface="Arial MT"/>
              </a:rPr>
              <a:t>of</a:t>
            </a:r>
            <a:r>
              <a:rPr sz="2300" spc="220" dirty="0">
                <a:solidFill>
                  <a:srgbClr val="4D526E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4D4D4D"/>
                </a:solidFill>
                <a:latin typeface="Arial MT"/>
                <a:cs typeface="Arial MT"/>
              </a:rPr>
              <a:t>Least</a:t>
            </a:r>
            <a:r>
              <a:rPr sz="2300" spc="204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525252"/>
                </a:solidFill>
                <a:latin typeface="Arial MT"/>
                <a:cs typeface="Arial MT"/>
              </a:rPr>
              <a:t>Privilege</a:t>
            </a:r>
            <a:r>
              <a:rPr sz="2300" spc="290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484848"/>
                </a:solidFill>
                <a:latin typeface="Arial MT"/>
                <a:cs typeface="Arial MT"/>
              </a:rPr>
              <a:t>(PoLP)</a:t>
            </a:r>
            <a:r>
              <a:rPr sz="2300" dirty="0">
                <a:solidFill>
                  <a:srgbClr val="495969"/>
                </a:solidFill>
                <a:latin typeface="Arial MT"/>
                <a:cs typeface="Arial MT"/>
              </a:rPr>
              <a:t>:v</a:t>
            </a:r>
            <a:r>
              <a:rPr sz="2300" spc="-315" dirty="0">
                <a:solidFill>
                  <a:srgbClr val="495969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525B6B"/>
                </a:solidFill>
                <a:latin typeface="Arial MT"/>
                <a:cs typeface="Arial MT"/>
              </a:rPr>
              <a:t>v</a:t>
            </a:r>
            <a:r>
              <a:rPr sz="2300" spc="265" dirty="0">
                <a:solidFill>
                  <a:srgbClr val="525B6B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525252"/>
                </a:solidFill>
                <a:latin typeface="Arial MT"/>
                <a:cs typeface="Arial MT"/>
              </a:rPr>
              <a:t>Give</a:t>
            </a:r>
            <a:r>
              <a:rPr sz="2300" spc="170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4B4B4B"/>
                </a:solidFill>
                <a:latin typeface="Arial MT"/>
                <a:cs typeface="Arial MT"/>
              </a:rPr>
              <a:t>users</a:t>
            </a:r>
            <a:r>
              <a:rPr sz="2300" spc="245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300" spc="-20" dirty="0">
                <a:solidFill>
                  <a:srgbClr val="424242"/>
                </a:solidFill>
                <a:latin typeface="Arial MT"/>
                <a:cs typeface="Arial MT"/>
              </a:rPr>
              <a:t>only</a:t>
            </a:r>
            <a:endParaRPr sz="2300">
              <a:latin typeface="Arial MT"/>
              <a:cs typeface="Arial MT"/>
            </a:endParaRPr>
          </a:p>
          <a:p>
            <a:pPr marL="306070">
              <a:lnSpc>
                <a:spcPct val="100000"/>
              </a:lnSpc>
              <a:spcBef>
                <a:spcPts val="735"/>
              </a:spcBef>
            </a:pPr>
            <a:r>
              <a:rPr sz="2450" dirty="0">
                <a:solidFill>
                  <a:srgbClr val="424242"/>
                </a:solidFill>
                <a:latin typeface="Arial MT"/>
                <a:cs typeface="Arial MT"/>
              </a:rPr>
              <a:t>the</a:t>
            </a:r>
            <a:r>
              <a:rPr sz="2450" spc="-10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2450" spc="-50" dirty="0">
                <a:solidFill>
                  <a:srgbClr val="595E80"/>
                </a:solidFill>
                <a:latin typeface="Arial MT"/>
                <a:cs typeface="Arial MT"/>
              </a:rPr>
              <a:t>minimum</a:t>
            </a:r>
            <a:r>
              <a:rPr sz="2450" spc="10" dirty="0">
                <a:solidFill>
                  <a:srgbClr val="595E80"/>
                </a:solidFill>
                <a:latin typeface="Arial MT"/>
                <a:cs typeface="Arial MT"/>
              </a:rPr>
              <a:t> </a:t>
            </a:r>
            <a:r>
              <a:rPr sz="2450" spc="-35" dirty="0">
                <a:solidFill>
                  <a:srgbClr val="4D4D4D"/>
                </a:solidFill>
                <a:latin typeface="Arial MT"/>
                <a:cs typeface="Arial MT"/>
              </a:rPr>
              <a:t>access</a:t>
            </a:r>
            <a:r>
              <a:rPr sz="2450" spc="15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424242"/>
                </a:solidFill>
                <a:latin typeface="Arial MT"/>
                <a:cs typeface="Arial MT"/>
              </a:rPr>
              <a:t>needed</a:t>
            </a:r>
            <a:r>
              <a:rPr sz="2450" spc="-10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46566B"/>
                </a:solidFill>
                <a:latin typeface="Arial MT"/>
                <a:cs typeface="Arial MT"/>
              </a:rPr>
              <a:t>for</a:t>
            </a:r>
            <a:r>
              <a:rPr sz="2450" spc="-80" dirty="0">
                <a:solidFill>
                  <a:srgbClr val="46566B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4F4F4F"/>
                </a:solidFill>
                <a:latin typeface="Arial MT"/>
                <a:cs typeface="Arial MT"/>
              </a:rPr>
              <a:t>their</a:t>
            </a:r>
            <a:r>
              <a:rPr sz="2450" spc="35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424242"/>
                </a:solidFill>
                <a:latin typeface="Arial MT"/>
                <a:cs typeface="Arial MT"/>
              </a:rPr>
              <a:t>job</a:t>
            </a:r>
            <a:r>
              <a:rPr sz="2450" spc="-135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3F3F3F"/>
                </a:solidFill>
                <a:latin typeface="Arial MT"/>
                <a:cs typeface="Arial MT"/>
              </a:rPr>
              <a:t>role.</a:t>
            </a:r>
            <a:endParaRPr sz="2450">
              <a:latin typeface="Arial MT"/>
              <a:cs typeface="Arial MT"/>
            </a:endParaRPr>
          </a:p>
          <a:p>
            <a:pPr marL="314960" marR="986155" indent="-302895">
              <a:lnSpc>
                <a:spcPct val="122000"/>
              </a:lnSpc>
              <a:spcBef>
                <a:spcPts val="865"/>
              </a:spcBef>
              <a:buChar char="•"/>
              <a:tabLst>
                <a:tab pos="314960" algn="l"/>
                <a:tab pos="690245" algn="l"/>
              </a:tabLst>
            </a:pPr>
            <a:r>
              <a:rPr sz="2450" dirty="0">
                <a:solidFill>
                  <a:srgbClr val="4B526E"/>
                </a:solidFill>
                <a:latin typeface="Arial MT"/>
                <a:cs typeface="Arial MT"/>
              </a:rPr>
              <a:t>	</a:t>
            </a:r>
            <a:r>
              <a:rPr sz="2450" spc="-10" dirty="0">
                <a:solidFill>
                  <a:srgbClr val="444F60"/>
                </a:solidFill>
                <a:latin typeface="Arial MT"/>
                <a:cs typeface="Arial MT"/>
              </a:rPr>
              <a:t>Strong</a:t>
            </a:r>
            <a:r>
              <a:rPr sz="2450" spc="-130" dirty="0">
                <a:solidFill>
                  <a:srgbClr val="444F60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505050"/>
                </a:solidFill>
                <a:latin typeface="Arial MT"/>
                <a:cs typeface="Arial MT"/>
              </a:rPr>
              <a:t>Password</a:t>
            </a:r>
            <a:r>
              <a:rPr sz="2450" spc="-110" dirty="0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sz="2450" spc="120" dirty="0">
                <a:solidFill>
                  <a:srgbClr val="424242"/>
                </a:solidFill>
                <a:latin typeface="Arial MT"/>
                <a:cs typeface="Arial MT"/>
              </a:rPr>
              <a:t>Policy:”</a:t>
            </a:r>
            <a:r>
              <a:rPr sz="2450" spc="-135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2450" spc="-30" dirty="0">
                <a:solidFill>
                  <a:srgbClr val="415269"/>
                </a:solidFill>
                <a:latin typeface="Arial MT"/>
                <a:cs typeface="Arial MT"/>
              </a:rPr>
              <a:t>Enforce</a:t>
            </a:r>
            <a:r>
              <a:rPr sz="2450" spc="-20" dirty="0">
                <a:solidFill>
                  <a:srgbClr val="415269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4F6479"/>
                </a:solidFill>
                <a:latin typeface="Arial MT"/>
                <a:cs typeface="Arial MT"/>
              </a:rPr>
              <a:t>length</a:t>
            </a:r>
            <a:r>
              <a:rPr sz="2450" spc="-20" dirty="0">
                <a:solidFill>
                  <a:srgbClr val="4F6479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426487"/>
                </a:solidFill>
                <a:latin typeface="Arial MT"/>
                <a:cs typeface="Arial MT"/>
              </a:rPr>
              <a:t>and </a:t>
            </a:r>
            <a:r>
              <a:rPr sz="2450" spc="-35" dirty="0">
                <a:solidFill>
                  <a:srgbClr val="424242"/>
                </a:solidFill>
                <a:latin typeface="Arial MT"/>
                <a:cs typeface="Arial MT"/>
              </a:rPr>
              <a:t>complexity,</a:t>
            </a:r>
            <a:r>
              <a:rPr sz="2450" spc="-114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2450" spc="-40" dirty="0">
                <a:solidFill>
                  <a:srgbClr val="595B6E"/>
                </a:solidFill>
                <a:latin typeface="Arial MT"/>
                <a:cs typeface="Arial MT"/>
              </a:rPr>
              <a:t>ban</a:t>
            </a:r>
            <a:r>
              <a:rPr sz="2450" spc="-125" dirty="0">
                <a:solidFill>
                  <a:srgbClr val="595B6E"/>
                </a:solidFill>
                <a:latin typeface="Arial MT"/>
                <a:cs typeface="Arial MT"/>
              </a:rPr>
              <a:t> </a:t>
            </a:r>
            <a:r>
              <a:rPr sz="2450" spc="-40" dirty="0">
                <a:solidFill>
                  <a:srgbClr val="4D4D4D"/>
                </a:solidFill>
                <a:latin typeface="Arial MT"/>
                <a:cs typeface="Arial MT"/>
              </a:rPr>
              <a:t>common</a:t>
            </a:r>
            <a:r>
              <a:rPr sz="2450" spc="-20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444444"/>
                </a:solidFill>
                <a:latin typeface="Arial MT"/>
                <a:cs typeface="Arial MT"/>
              </a:rPr>
              <a:t>passwords.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92631" y="3970163"/>
            <a:ext cx="7993380" cy="3612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800" dirty="0">
                <a:solidFill>
                  <a:srgbClr val="3B82F7"/>
                </a:solidFill>
                <a:latin typeface="Arial MT"/>
                <a:cs typeface="Arial MT"/>
              </a:rPr>
              <a:t>§°</a:t>
            </a:r>
            <a:r>
              <a:rPr sz="2800" spc="-90" dirty="0">
                <a:solidFill>
                  <a:srgbClr val="3B82F7"/>
                </a:solidFill>
                <a:latin typeface="Arial MT"/>
                <a:cs typeface="Arial MT"/>
              </a:rPr>
              <a:t> </a:t>
            </a:r>
            <a:r>
              <a:rPr sz="2800" spc="160" dirty="0">
                <a:latin typeface="Arial MT"/>
                <a:cs typeface="Arial MT"/>
              </a:rPr>
              <a:t>Network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70" dirty="0">
                <a:latin typeface="Arial MT"/>
                <a:cs typeface="Arial MT"/>
              </a:rPr>
              <a:t>&amp;</a:t>
            </a:r>
            <a:r>
              <a:rPr sz="2800" spc="-235" dirty="0">
                <a:latin typeface="Arial MT"/>
                <a:cs typeface="Arial MT"/>
              </a:rPr>
              <a:t> </a:t>
            </a:r>
            <a:r>
              <a:rPr sz="2800" spc="90" dirty="0">
                <a:latin typeface="Arial MT"/>
                <a:cs typeface="Arial MT"/>
              </a:rPr>
              <a:t>Endpoint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95" dirty="0">
                <a:latin typeface="Arial MT"/>
                <a:cs typeface="Arial MT"/>
              </a:rPr>
              <a:t>Protection</a:t>
            </a:r>
            <a:endParaRPr sz="2800">
              <a:latin typeface="Arial MT"/>
              <a:cs typeface="Arial MT"/>
            </a:endParaRPr>
          </a:p>
          <a:p>
            <a:pPr marL="335280" marR="1042669" indent="-286385">
              <a:lnSpc>
                <a:spcPct val="122000"/>
              </a:lnSpc>
              <a:spcBef>
                <a:spcPts val="1410"/>
              </a:spcBef>
              <a:buChar char="•"/>
              <a:tabLst>
                <a:tab pos="335280" algn="l"/>
                <a:tab pos="360680" algn="l"/>
              </a:tabLst>
            </a:pPr>
            <a:r>
              <a:rPr sz="2450" dirty="0">
                <a:solidFill>
                  <a:srgbClr val="49596B"/>
                </a:solidFill>
                <a:latin typeface="Arial MT"/>
                <a:cs typeface="Arial MT"/>
              </a:rPr>
              <a:t>	</a:t>
            </a:r>
            <a:r>
              <a:rPr sz="2450" spc="90" dirty="0">
                <a:solidFill>
                  <a:srgbClr val="424D5E"/>
                </a:solidFill>
                <a:latin typeface="Arial MT"/>
                <a:cs typeface="Arial MT"/>
              </a:rPr>
              <a:t>a*</a:t>
            </a:r>
            <a:r>
              <a:rPr sz="2450" spc="-375" dirty="0">
                <a:solidFill>
                  <a:srgbClr val="424D5E"/>
                </a:solidFill>
                <a:latin typeface="Arial MT"/>
                <a:cs typeface="Arial MT"/>
              </a:rPr>
              <a:t> </a:t>
            </a:r>
            <a:r>
              <a:rPr sz="2450" spc="-60" dirty="0">
                <a:solidFill>
                  <a:srgbClr val="494949"/>
                </a:solidFill>
                <a:latin typeface="Arial MT"/>
                <a:cs typeface="Arial MT"/>
              </a:rPr>
              <a:t>Next-</a:t>
            </a:r>
            <a:r>
              <a:rPr sz="2450" dirty="0">
                <a:solidFill>
                  <a:srgbClr val="494949"/>
                </a:solidFill>
                <a:latin typeface="Arial MT"/>
                <a:cs typeface="Arial MT"/>
              </a:rPr>
              <a:t>Gen</a:t>
            </a:r>
            <a:r>
              <a:rPr sz="2450" spc="40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494949"/>
                </a:solidFill>
                <a:latin typeface="Arial MT"/>
                <a:cs typeface="Arial MT"/>
              </a:rPr>
              <a:t>Firewall:”’</a:t>
            </a:r>
            <a:r>
              <a:rPr sz="2450" spc="-15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364D69"/>
                </a:solidFill>
                <a:latin typeface="Arial MT"/>
                <a:cs typeface="Arial MT"/>
              </a:rPr>
              <a:t>Implement</a:t>
            </a:r>
            <a:r>
              <a:rPr sz="2450" spc="254" dirty="0">
                <a:solidFill>
                  <a:srgbClr val="364D69"/>
                </a:solidFill>
                <a:latin typeface="Arial MT"/>
                <a:cs typeface="Arial MT"/>
              </a:rPr>
              <a:t> </a:t>
            </a:r>
            <a:r>
              <a:rPr sz="2450" spc="-254" dirty="0">
                <a:solidFill>
                  <a:srgbClr val="415260"/>
                </a:solidFill>
                <a:latin typeface="Arial MT"/>
                <a:cs typeface="Arial MT"/>
              </a:rPr>
              <a:t>a</a:t>
            </a:r>
            <a:r>
              <a:rPr sz="2450" spc="-20" dirty="0">
                <a:solidFill>
                  <a:srgbClr val="415260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505D6B"/>
                </a:solidFill>
                <a:latin typeface="Arial MT"/>
                <a:cs typeface="Arial MT"/>
              </a:rPr>
              <a:t>firewall</a:t>
            </a:r>
            <a:r>
              <a:rPr sz="2450" spc="20" dirty="0">
                <a:solidFill>
                  <a:srgbClr val="505D6B"/>
                </a:solidFill>
                <a:latin typeface="Arial MT"/>
                <a:cs typeface="Arial MT"/>
              </a:rPr>
              <a:t> </a:t>
            </a:r>
            <a:r>
              <a:rPr sz="2450" spc="-20" dirty="0">
                <a:solidFill>
                  <a:srgbClr val="415264"/>
                </a:solidFill>
                <a:latin typeface="Arial MT"/>
                <a:cs typeface="Arial MT"/>
              </a:rPr>
              <a:t>with </a:t>
            </a:r>
            <a:r>
              <a:rPr sz="2450" dirty="0">
                <a:solidFill>
                  <a:srgbClr val="484848"/>
                </a:solidFill>
                <a:latin typeface="Arial MT"/>
                <a:cs typeface="Arial MT"/>
              </a:rPr>
              <a:t>Intrusion</a:t>
            </a:r>
            <a:r>
              <a:rPr sz="2450" spc="-65" dirty="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464B62"/>
                </a:solidFill>
                <a:latin typeface="Arial MT"/>
                <a:cs typeface="Arial MT"/>
              </a:rPr>
              <a:t>Prevention</a:t>
            </a:r>
            <a:r>
              <a:rPr sz="2450" spc="-30" dirty="0">
                <a:solidFill>
                  <a:srgbClr val="464B62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3D3D3D"/>
                </a:solidFill>
                <a:latin typeface="Arial MT"/>
                <a:cs typeface="Arial MT"/>
              </a:rPr>
              <a:t>System </a:t>
            </a:r>
            <a:r>
              <a:rPr sz="2450" spc="-10" dirty="0">
                <a:solidFill>
                  <a:srgbClr val="464646"/>
                </a:solidFill>
                <a:latin typeface="Arial MT"/>
                <a:cs typeface="Arial MT"/>
              </a:rPr>
              <a:t>(IPS).</a:t>
            </a:r>
            <a:endParaRPr sz="2450">
              <a:latin typeface="Arial MT"/>
              <a:cs typeface="Arial MT"/>
            </a:endParaRPr>
          </a:p>
          <a:p>
            <a:pPr marL="314960" marR="219075" indent="-265430">
              <a:lnSpc>
                <a:spcPct val="122000"/>
              </a:lnSpc>
              <a:spcBef>
                <a:spcPts val="990"/>
              </a:spcBef>
              <a:buClr>
                <a:srgbClr val="495064"/>
              </a:buClr>
              <a:buChar char="•"/>
              <a:tabLst>
                <a:tab pos="344170" algn="l"/>
              </a:tabLst>
            </a:pPr>
            <a:r>
              <a:rPr sz="2450" dirty="0">
                <a:solidFill>
                  <a:srgbClr val="495469"/>
                </a:solidFill>
                <a:latin typeface="Arial MT"/>
                <a:cs typeface="Arial MT"/>
              </a:rPr>
              <a:t>*</a:t>
            </a:r>
            <a:r>
              <a:rPr sz="2450" spc="-170" dirty="0">
                <a:solidFill>
                  <a:srgbClr val="495469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44566D"/>
                </a:solidFill>
                <a:latin typeface="Arial MT"/>
                <a:cs typeface="Arial MT"/>
              </a:rPr>
              <a:t>*</a:t>
            </a:r>
            <a:r>
              <a:rPr sz="2450" spc="-165" dirty="0">
                <a:solidFill>
                  <a:srgbClr val="44566D"/>
                </a:solidFill>
                <a:latin typeface="Arial MT"/>
                <a:cs typeface="Arial MT"/>
              </a:rPr>
              <a:t> </a:t>
            </a:r>
            <a:r>
              <a:rPr sz="2450" spc="-45" dirty="0">
                <a:solidFill>
                  <a:srgbClr val="444B64"/>
                </a:solidFill>
                <a:latin typeface="Arial MT"/>
                <a:cs typeface="Arial MT"/>
              </a:rPr>
              <a:t>Endpoint</a:t>
            </a:r>
            <a:r>
              <a:rPr sz="2450" spc="-10" dirty="0">
                <a:solidFill>
                  <a:srgbClr val="444B64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344654"/>
                </a:solidFill>
                <a:latin typeface="Arial MT"/>
                <a:cs typeface="Arial MT"/>
              </a:rPr>
              <a:t>Detection</a:t>
            </a:r>
            <a:r>
              <a:rPr sz="2450" spc="20" dirty="0">
                <a:solidFill>
                  <a:srgbClr val="344654"/>
                </a:solidFill>
                <a:latin typeface="Arial MT"/>
                <a:cs typeface="Arial MT"/>
              </a:rPr>
              <a:t> </a:t>
            </a:r>
            <a:r>
              <a:rPr sz="2450" spc="-60" dirty="0">
                <a:solidFill>
                  <a:srgbClr val="415462"/>
                </a:solidFill>
                <a:latin typeface="Arial MT"/>
                <a:cs typeface="Arial MT"/>
              </a:rPr>
              <a:t>and</a:t>
            </a:r>
            <a:r>
              <a:rPr sz="2450" spc="-110" dirty="0">
                <a:solidFill>
                  <a:srgbClr val="415462"/>
                </a:solidFill>
                <a:latin typeface="Arial MT"/>
                <a:cs typeface="Arial MT"/>
              </a:rPr>
              <a:t> </a:t>
            </a:r>
            <a:r>
              <a:rPr sz="2450" spc="-50" dirty="0">
                <a:solidFill>
                  <a:srgbClr val="494949"/>
                </a:solidFill>
                <a:latin typeface="Arial MT"/>
                <a:cs typeface="Arial MT"/>
              </a:rPr>
              <a:t>Response</a:t>
            </a:r>
            <a:r>
              <a:rPr sz="2450" spc="114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450" spc="-75" dirty="0">
                <a:solidFill>
                  <a:srgbClr val="4D4D4D"/>
                </a:solidFill>
                <a:latin typeface="Arial MT"/>
                <a:cs typeface="Arial MT"/>
              </a:rPr>
              <a:t>(EDR)</a:t>
            </a:r>
            <a:r>
              <a:rPr sz="2450" spc="-75" dirty="0">
                <a:solidFill>
                  <a:srgbClr val="4F5D6E"/>
                </a:solidFill>
                <a:latin typeface="Arial MT"/>
                <a:cs typeface="Arial MT"/>
              </a:rPr>
              <a:t>:a</a:t>
            </a:r>
            <a:r>
              <a:rPr sz="2450" spc="-75" dirty="0">
                <a:solidFill>
                  <a:srgbClr val="333F54"/>
                </a:solidFill>
                <a:latin typeface="Arial MT"/>
                <a:cs typeface="Arial MT"/>
              </a:rPr>
              <a:t>a</a:t>
            </a:r>
            <a:r>
              <a:rPr sz="2450" spc="-50" dirty="0">
                <a:solidFill>
                  <a:srgbClr val="333F54"/>
                </a:solidFill>
                <a:latin typeface="Arial MT"/>
                <a:cs typeface="Arial MT"/>
              </a:rPr>
              <a:t> </a:t>
            </a:r>
            <a:r>
              <a:rPr sz="2450" spc="-40" dirty="0">
                <a:solidFill>
                  <a:srgbClr val="4D4D4D"/>
                </a:solidFill>
                <a:latin typeface="Arial MT"/>
                <a:cs typeface="Arial MT"/>
              </a:rPr>
              <a:t>Replace 	basic</a:t>
            </a:r>
            <a:r>
              <a:rPr sz="2450" spc="-130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2450" spc="-20" dirty="0">
                <a:solidFill>
                  <a:srgbClr val="4B4B4B"/>
                </a:solidFill>
                <a:latin typeface="Arial MT"/>
                <a:cs typeface="Arial MT"/>
              </a:rPr>
              <a:t>antivirus</a:t>
            </a:r>
            <a:r>
              <a:rPr sz="2450" spc="2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4B5B75"/>
                </a:solidFill>
                <a:latin typeface="Arial MT"/>
                <a:cs typeface="Arial MT"/>
              </a:rPr>
              <a:t>with</a:t>
            </a:r>
            <a:r>
              <a:rPr sz="2450" spc="-75" dirty="0">
                <a:solidFill>
                  <a:srgbClr val="4B5B75"/>
                </a:solidFill>
                <a:latin typeface="Arial MT"/>
                <a:cs typeface="Arial MT"/>
              </a:rPr>
              <a:t> </a:t>
            </a:r>
            <a:r>
              <a:rPr sz="2450" spc="-100" dirty="0">
                <a:solidFill>
                  <a:srgbClr val="56677C"/>
                </a:solidFill>
                <a:latin typeface="Arial MT"/>
                <a:cs typeface="Arial MT"/>
              </a:rPr>
              <a:t>an</a:t>
            </a:r>
            <a:r>
              <a:rPr sz="2450" spc="-65" dirty="0">
                <a:solidFill>
                  <a:srgbClr val="56677C"/>
                </a:solidFill>
                <a:latin typeface="Arial MT"/>
                <a:cs typeface="Arial MT"/>
              </a:rPr>
              <a:t> </a:t>
            </a:r>
            <a:r>
              <a:rPr sz="2450" spc="-335" dirty="0">
                <a:solidFill>
                  <a:srgbClr val="4B5464"/>
                </a:solidFill>
                <a:latin typeface="Arial MT"/>
                <a:cs typeface="Arial MT"/>
              </a:rPr>
              <a:t>EDR</a:t>
            </a:r>
            <a:r>
              <a:rPr sz="2450" spc="165" dirty="0">
                <a:solidFill>
                  <a:srgbClr val="4B5464"/>
                </a:solidFill>
                <a:latin typeface="Arial MT"/>
                <a:cs typeface="Arial MT"/>
              </a:rPr>
              <a:t> </a:t>
            </a:r>
            <a:r>
              <a:rPr sz="2450" spc="-20" dirty="0">
                <a:solidFill>
                  <a:srgbClr val="4F4F4F"/>
                </a:solidFill>
                <a:latin typeface="Arial MT"/>
                <a:cs typeface="Arial MT"/>
              </a:rPr>
              <a:t>solution</a:t>
            </a:r>
            <a:r>
              <a:rPr sz="2450" spc="10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495664"/>
                </a:solidFill>
                <a:latin typeface="Arial MT"/>
                <a:cs typeface="Arial MT"/>
              </a:rPr>
              <a:t>on</a:t>
            </a:r>
            <a:r>
              <a:rPr sz="2450" spc="-150" dirty="0">
                <a:solidFill>
                  <a:srgbClr val="495664"/>
                </a:solidFill>
                <a:latin typeface="Arial MT"/>
                <a:cs typeface="Arial MT"/>
              </a:rPr>
              <a:t> </a:t>
            </a:r>
            <a:r>
              <a:rPr sz="2450" spc="-45" dirty="0">
                <a:solidFill>
                  <a:srgbClr val="42596E"/>
                </a:solidFill>
                <a:latin typeface="Arial MT"/>
                <a:cs typeface="Arial MT"/>
              </a:rPr>
              <a:t>all</a:t>
            </a:r>
            <a:r>
              <a:rPr sz="2450" spc="-120" dirty="0">
                <a:solidFill>
                  <a:srgbClr val="42596E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484848"/>
                </a:solidFill>
                <a:latin typeface="Arial MT"/>
                <a:cs typeface="Arial MT"/>
              </a:rPr>
              <a:t>devices.</a:t>
            </a:r>
            <a:endParaRPr sz="2450">
              <a:latin typeface="Arial MT"/>
              <a:cs typeface="Arial MT"/>
            </a:endParaRPr>
          </a:p>
          <a:p>
            <a:pPr marL="314960" marR="5080" indent="-266065">
              <a:lnSpc>
                <a:spcPct val="124100"/>
              </a:lnSpc>
              <a:spcBef>
                <a:spcPts val="805"/>
              </a:spcBef>
              <a:buClr>
                <a:srgbClr val="4B526E"/>
              </a:buClr>
              <a:buChar char="•"/>
              <a:tabLst>
                <a:tab pos="346710" algn="l"/>
                <a:tab pos="709930" algn="l"/>
                <a:tab pos="5778500" algn="l"/>
              </a:tabLst>
            </a:pPr>
            <a:r>
              <a:rPr sz="2450" spc="-50" dirty="0">
                <a:solidFill>
                  <a:srgbClr val="4D5969"/>
                </a:solidFill>
                <a:latin typeface="Arial MT"/>
                <a:cs typeface="Arial MT"/>
              </a:rPr>
              <a:t>*</a:t>
            </a:r>
            <a:r>
              <a:rPr sz="2450" dirty="0">
                <a:solidFill>
                  <a:srgbClr val="4D5969"/>
                </a:solidFill>
                <a:latin typeface="Arial MT"/>
                <a:cs typeface="Arial MT"/>
              </a:rPr>
              <a:t>	</a:t>
            </a:r>
            <a:r>
              <a:rPr sz="2450" spc="-35" dirty="0">
                <a:solidFill>
                  <a:srgbClr val="4B4B4B"/>
                </a:solidFill>
                <a:latin typeface="Arial MT"/>
                <a:cs typeface="Arial MT"/>
              </a:rPr>
              <a:t>Automated</a:t>
            </a:r>
            <a:r>
              <a:rPr sz="2450" spc="1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450" spc="-45" dirty="0">
                <a:solidFill>
                  <a:srgbClr val="465275"/>
                </a:solidFill>
                <a:latin typeface="Arial MT"/>
                <a:cs typeface="Arial MT"/>
              </a:rPr>
              <a:t>Patch</a:t>
            </a:r>
            <a:r>
              <a:rPr sz="2450" spc="-5" dirty="0">
                <a:solidFill>
                  <a:srgbClr val="465275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444444"/>
                </a:solidFill>
                <a:latin typeface="Arial MT"/>
                <a:cs typeface="Arial MT"/>
              </a:rPr>
              <a:t>Management:’”</a:t>
            </a:r>
            <a:r>
              <a:rPr sz="2450" spc="1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2450" spc="-40" dirty="0">
                <a:solidFill>
                  <a:srgbClr val="4D4D4D"/>
                </a:solidFill>
                <a:latin typeface="Arial MT"/>
                <a:cs typeface="Arial MT"/>
              </a:rPr>
              <a:t>Ensure</a:t>
            </a:r>
            <a:r>
              <a:rPr sz="2450" spc="30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2450" spc="-80" dirty="0">
                <a:solidFill>
                  <a:srgbClr val="416270"/>
                </a:solidFill>
                <a:latin typeface="Arial MT"/>
                <a:cs typeface="Arial MT"/>
              </a:rPr>
              <a:t>all</a:t>
            </a:r>
            <a:r>
              <a:rPr sz="2450" spc="-90" dirty="0">
                <a:solidFill>
                  <a:srgbClr val="416270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495466"/>
                </a:solidFill>
                <a:latin typeface="Arial MT"/>
                <a:cs typeface="Arial MT"/>
              </a:rPr>
              <a:t>operating 	</a:t>
            </a:r>
            <a:r>
              <a:rPr sz="2450" dirty="0">
                <a:solidFill>
                  <a:srgbClr val="484848"/>
                </a:solidFill>
                <a:latin typeface="Arial MT"/>
                <a:cs typeface="Arial MT"/>
              </a:rPr>
              <a:t>systems</a:t>
            </a:r>
            <a:r>
              <a:rPr sz="2450" spc="-80" dirty="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465B70"/>
                </a:solidFill>
                <a:latin typeface="Arial MT"/>
                <a:cs typeface="Arial MT"/>
              </a:rPr>
              <a:t>and</a:t>
            </a:r>
            <a:r>
              <a:rPr sz="2450" spc="-170" dirty="0">
                <a:solidFill>
                  <a:srgbClr val="465B70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494949"/>
                </a:solidFill>
                <a:latin typeface="Arial MT"/>
                <a:cs typeface="Arial MT"/>
              </a:rPr>
              <a:t>software </a:t>
            </a:r>
            <a:r>
              <a:rPr sz="2450" spc="-10" dirty="0">
                <a:solidFill>
                  <a:srgbClr val="3F4F5B"/>
                </a:solidFill>
                <a:latin typeface="Arial MT"/>
                <a:cs typeface="Arial MT"/>
              </a:rPr>
              <a:t>are</a:t>
            </a:r>
            <a:r>
              <a:rPr sz="2450" spc="-90" dirty="0">
                <a:solidFill>
                  <a:srgbClr val="3F4F5B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4F4F4F"/>
                </a:solidFill>
                <a:latin typeface="Arial MT"/>
                <a:cs typeface="Arial MT"/>
              </a:rPr>
              <a:t>automatically</a:t>
            </a:r>
            <a:r>
              <a:rPr sz="2450" dirty="0">
                <a:solidFill>
                  <a:srgbClr val="4F4F4F"/>
                </a:solidFill>
                <a:latin typeface="Arial MT"/>
                <a:cs typeface="Arial MT"/>
              </a:rPr>
              <a:t>	</a:t>
            </a:r>
            <a:r>
              <a:rPr sz="2450" spc="-10" dirty="0">
                <a:solidFill>
                  <a:srgbClr val="464646"/>
                </a:solidFill>
                <a:latin typeface="Arial MT"/>
                <a:cs typeface="Arial MT"/>
              </a:rPr>
              <a:t>updated.</a:t>
            </a:r>
            <a:endParaRPr sz="2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0"/>
            <a:ext cx="20088393" cy="12565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056250" y="4005113"/>
            <a:ext cx="0" cy="5536565"/>
          </a:xfrm>
          <a:custGeom>
            <a:avLst/>
            <a:gdLst/>
            <a:ahLst/>
            <a:cxnLst/>
            <a:rect l="l" t="t" r="r" b="b"/>
            <a:pathLst>
              <a:path h="5536565">
                <a:moveTo>
                  <a:pt x="0" y="5536481"/>
                </a:moveTo>
                <a:lnTo>
                  <a:pt x="0" y="0"/>
                </a:lnTo>
              </a:path>
            </a:pathLst>
          </a:custGeom>
          <a:ln w="7853">
            <a:solidFill>
              <a:srgbClr val="0FB3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00465" y="4040452"/>
            <a:ext cx="1319530" cy="0"/>
          </a:xfrm>
          <a:custGeom>
            <a:avLst/>
            <a:gdLst/>
            <a:ahLst/>
            <a:cxnLst/>
            <a:rect l="l" t="t" r="r" b="b"/>
            <a:pathLst>
              <a:path w="1319530">
                <a:moveTo>
                  <a:pt x="0" y="0"/>
                </a:moveTo>
                <a:lnTo>
                  <a:pt x="1319331" y="0"/>
                </a:lnTo>
              </a:path>
            </a:pathLst>
          </a:custGeom>
          <a:ln w="392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282622" y="4032599"/>
            <a:ext cx="1445260" cy="0"/>
          </a:xfrm>
          <a:custGeom>
            <a:avLst/>
            <a:gdLst/>
            <a:ahLst/>
            <a:cxnLst/>
            <a:rect l="l" t="t" r="r" b="b"/>
            <a:pathLst>
              <a:path w="1445260">
                <a:moveTo>
                  <a:pt x="0" y="0"/>
                </a:moveTo>
                <a:lnTo>
                  <a:pt x="1444982" y="0"/>
                </a:lnTo>
              </a:path>
            </a:pathLst>
          </a:custGeom>
          <a:ln w="392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4884668" y="4012966"/>
            <a:ext cx="5057775" cy="39370"/>
            <a:chOff x="4884668" y="4012966"/>
            <a:chExt cx="5057775" cy="39370"/>
          </a:xfrm>
        </p:grpSpPr>
        <p:sp>
          <p:nvSpPr>
            <p:cNvPr id="7" name="object 7"/>
            <p:cNvSpPr/>
            <p:nvPr/>
          </p:nvSpPr>
          <p:spPr>
            <a:xfrm>
              <a:off x="4884668" y="4032599"/>
              <a:ext cx="1036955" cy="0"/>
            </a:xfrm>
            <a:custGeom>
              <a:avLst/>
              <a:gdLst/>
              <a:ahLst/>
              <a:cxnLst/>
              <a:rect l="l" t="t" r="r" b="b"/>
              <a:pathLst>
                <a:path w="1036954">
                  <a:moveTo>
                    <a:pt x="0" y="0"/>
                  </a:moveTo>
                  <a:lnTo>
                    <a:pt x="1036617" y="0"/>
                  </a:lnTo>
                </a:path>
              </a:pathLst>
            </a:custGeom>
            <a:ln w="392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952698" y="4032599"/>
              <a:ext cx="3989704" cy="0"/>
            </a:xfrm>
            <a:custGeom>
              <a:avLst/>
              <a:gdLst/>
              <a:ahLst/>
              <a:cxnLst/>
              <a:rect l="l" t="t" r="r" b="b"/>
              <a:pathLst>
                <a:path w="3989704">
                  <a:moveTo>
                    <a:pt x="0" y="0"/>
                  </a:moveTo>
                  <a:lnTo>
                    <a:pt x="3989407" y="0"/>
                  </a:lnTo>
                </a:path>
              </a:pathLst>
            </a:custGeom>
            <a:ln w="392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10354396" y="4005113"/>
            <a:ext cx="0" cy="5536565"/>
          </a:xfrm>
          <a:custGeom>
            <a:avLst/>
            <a:gdLst/>
            <a:ahLst/>
            <a:cxnLst/>
            <a:rect l="l" t="t" r="r" b="b"/>
            <a:pathLst>
              <a:path h="5536565">
                <a:moveTo>
                  <a:pt x="0" y="5536481"/>
                </a:moveTo>
                <a:lnTo>
                  <a:pt x="0" y="0"/>
                </a:lnTo>
              </a:path>
            </a:pathLst>
          </a:custGeom>
          <a:ln w="7853">
            <a:solidFill>
              <a:srgbClr val="0FB3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198611" y="4040452"/>
            <a:ext cx="1319530" cy="0"/>
          </a:xfrm>
          <a:custGeom>
            <a:avLst/>
            <a:gdLst/>
            <a:ahLst/>
            <a:cxnLst/>
            <a:rect l="l" t="t" r="r" b="b"/>
            <a:pathLst>
              <a:path w="1319529">
                <a:moveTo>
                  <a:pt x="0" y="0"/>
                </a:moveTo>
                <a:lnTo>
                  <a:pt x="1319331" y="0"/>
                </a:lnTo>
              </a:path>
            </a:pathLst>
          </a:custGeom>
          <a:ln w="392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580768" y="4032599"/>
            <a:ext cx="1445260" cy="0"/>
          </a:xfrm>
          <a:custGeom>
            <a:avLst/>
            <a:gdLst/>
            <a:ahLst/>
            <a:cxnLst/>
            <a:rect l="l" t="t" r="r" b="b"/>
            <a:pathLst>
              <a:path w="1445259">
                <a:moveTo>
                  <a:pt x="0" y="0"/>
                </a:moveTo>
                <a:lnTo>
                  <a:pt x="1444982" y="0"/>
                </a:lnTo>
              </a:path>
            </a:pathLst>
          </a:custGeom>
          <a:ln w="392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14182814" y="4012966"/>
            <a:ext cx="5057775" cy="39370"/>
            <a:chOff x="14182814" y="4012966"/>
            <a:chExt cx="5057775" cy="39370"/>
          </a:xfrm>
        </p:grpSpPr>
        <p:sp>
          <p:nvSpPr>
            <p:cNvPr id="13" name="object 13"/>
            <p:cNvSpPr/>
            <p:nvPr/>
          </p:nvSpPr>
          <p:spPr>
            <a:xfrm>
              <a:off x="14182814" y="4032599"/>
              <a:ext cx="1036955" cy="0"/>
            </a:xfrm>
            <a:custGeom>
              <a:avLst/>
              <a:gdLst/>
              <a:ahLst/>
              <a:cxnLst/>
              <a:rect l="l" t="t" r="r" b="b"/>
              <a:pathLst>
                <a:path w="1036955">
                  <a:moveTo>
                    <a:pt x="0" y="0"/>
                  </a:moveTo>
                  <a:lnTo>
                    <a:pt x="1036617" y="0"/>
                  </a:lnTo>
                </a:path>
              </a:pathLst>
            </a:custGeom>
            <a:ln w="392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250845" y="4032599"/>
              <a:ext cx="3989704" cy="0"/>
            </a:xfrm>
            <a:custGeom>
              <a:avLst/>
              <a:gdLst/>
              <a:ahLst/>
              <a:cxnLst/>
              <a:rect l="l" t="t" r="r" b="b"/>
              <a:pathLst>
                <a:path w="3989705">
                  <a:moveTo>
                    <a:pt x="0" y="0"/>
                  </a:moveTo>
                  <a:lnTo>
                    <a:pt x="3989407" y="0"/>
                  </a:lnTo>
                </a:path>
              </a:pathLst>
            </a:custGeom>
            <a:ln w="392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3495">
              <a:lnSpc>
                <a:spcPts val="7165"/>
              </a:lnSpc>
              <a:spcBef>
                <a:spcPts val="110"/>
              </a:spcBef>
            </a:pPr>
            <a:r>
              <a:rPr sz="6300" b="0" spc="130" dirty="0">
                <a:solidFill>
                  <a:srgbClr val="1F3890"/>
                </a:solidFill>
                <a:latin typeface="Arial MT"/>
                <a:cs typeface="Arial MT"/>
              </a:rPr>
              <a:t>Mitigation</a:t>
            </a:r>
            <a:r>
              <a:rPr sz="6300" b="0" spc="-254" dirty="0">
                <a:solidFill>
                  <a:srgbClr val="1F3890"/>
                </a:solidFill>
                <a:latin typeface="Arial MT"/>
                <a:cs typeface="Arial MT"/>
              </a:rPr>
              <a:t> </a:t>
            </a:r>
            <a:r>
              <a:rPr sz="6300" b="0" spc="-60" dirty="0">
                <a:solidFill>
                  <a:srgbClr val="1C3B8E"/>
                </a:solidFill>
                <a:latin typeface="Arial MT"/>
                <a:cs typeface="Arial MT"/>
              </a:rPr>
              <a:t>Strategies:</a:t>
            </a:r>
            <a:r>
              <a:rPr sz="6300" b="0" spc="-75" dirty="0">
                <a:solidFill>
                  <a:srgbClr val="1C3B8E"/>
                </a:solidFill>
                <a:latin typeface="Arial MT"/>
                <a:cs typeface="Arial MT"/>
              </a:rPr>
              <a:t> </a:t>
            </a:r>
            <a:r>
              <a:rPr sz="6300" b="0" dirty="0">
                <a:latin typeface="Arial MT"/>
                <a:cs typeface="Arial MT"/>
              </a:rPr>
              <a:t>Human</a:t>
            </a:r>
            <a:r>
              <a:rPr sz="6300" b="0" spc="-335" dirty="0">
                <a:latin typeface="Arial MT"/>
                <a:cs typeface="Arial MT"/>
              </a:rPr>
              <a:t> </a:t>
            </a:r>
            <a:r>
              <a:rPr sz="6300" b="0" spc="-254" dirty="0">
                <a:solidFill>
                  <a:srgbClr val="1D3890"/>
                </a:solidFill>
                <a:latin typeface="Arial MT"/>
                <a:cs typeface="Arial MT"/>
              </a:rPr>
              <a:t>&amp;</a:t>
            </a:r>
            <a:r>
              <a:rPr sz="6300" b="0" spc="-425" dirty="0">
                <a:solidFill>
                  <a:srgbClr val="1D3890"/>
                </a:solidFill>
                <a:latin typeface="Arial MT"/>
                <a:cs typeface="Arial MT"/>
              </a:rPr>
              <a:t> </a:t>
            </a:r>
            <a:r>
              <a:rPr sz="6300" b="0" spc="-10" dirty="0">
                <a:solidFill>
                  <a:srgbClr val="1A3D87"/>
                </a:solidFill>
                <a:latin typeface="Arial MT"/>
                <a:cs typeface="Arial MT"/>
              </a:rPr>
              <a:t>Operational</a:t>
            </a:r>
            <a:endParaRPr sz="6300">
              <a:latin typeface="Arial MT"/>
              <a:cs typeface="Arial MT"/>
            </a:endParaRPr>
          </a:p>
          <a:p>
            <a:pPr marL="12700">
              <a:lnSpc>
                <a:spcPts val="6984"/>
              </a:lnSpc>
            </a:pPr>
            <a:r>
              <a:rPr sz="6150" b="0" spc="-10" dirty="0">
                <a:solidFill>
                  <a:srgbClr val="243690"/>
                </a:solidFill>
                <a:latin typeface="Arial MT"/>
                <a:cs typeface="Arial MT"/>
              </a:rPr>
              <a:t>Controls</a:t>
            </a:r>
            <a:endParaRPr sz="61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31445" y="4818304"/>
            <a:ext cx="7951470" cy="40601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14984">
              <a:lnSpc>
                <a:spcPct val="100000"/>
              </a:lnSpc>
              <a:spcBef>
                <a:spcPts val="135"/>
              </a:spcBef>
            </a:pPr>
            <a:r>
              <a:rPr sz="2800" spc="95" dirty="0">
                <a:latin typeface="Arial MT"/>
                <a:cs typeface="Arial MT"/>
              </a:rPr>
              <a:t>Training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&amp;</a:t>
            </a:r>
            <a:r>
              <a:rPr sz="2800" spc="-114" dirty="0">
                <a:latin typeface="Arial MT"/>
                <a:cs typeface="Arial MT"/>
              </a:rPr>
              <a:t> </a:t>
            </a:r>
            <a:r>
              <a:rPr sz="2800" spc="50" dirty="0">
                <a:latin typeface="Arial MT"/>
                <a:cs typeface="Arial MT"/>
              </a:rPr>
              <a:t>Awareness</a:t>
            </a:r>
            <a:endParaRPr sz="2800">
              <a:latin typeface="Arial MT"/>
              <a:cs typeface="Arial MT"/>
            </a:endParaRPr>
          </a:p>
          <a:p>
            <a:pPr marL="285750" marR="5080" indent="-273685">
              <a:lnSpc>
                <a:spcPct val="122000"/>
              </a:lnSpc>
              <a:spcBef>
                <a:spcPts val="1410"/>
              </a:spcBef>
              <a:buClr>
                <a:srgbClr val="465070"/>
              </a:buClr>
              <a:buChar char="•"/>
              <a:tabLst>
                <a:tab pos="306070" algn="l"/>
              </a:tabLst>
            </a:pPr>
            <a:r>
              <a:rPr sz="2450" dirty="0">
                <a:solidFill>
                  <a:srgbClr val="465260"/>
                </a:solidFill>
                <a:latin typeface="Arial MT"/>
                <a:cs typeface="Arial MT"/>
              </a:rPr>
              <a:t>*</a:t>
            </a:r>
            <a:r>
              <a:rPr sz="2450" spc="-190" dirty="0">
                <a:solidFill>
                  <a:srgbClr val="465260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465062"/>
                </a:solidFill>
                <a:latin typeface="Arial MT"/>
                <a:cs typeface="Arial MT"/>
              </a:rPr>
              <a:t>*</a:t>
            </a:r>
            <a:r>
              <a:rPr sz="2450" spc="-140" dirty="0">
                <a:solidFill>
                  <a:srgbClr val="465062"/>
                </a:solidFill>
                <a:latin typeface="Arial MT"/>
                <a:cs typeface="Arial MT"/>
              </a:rPr>
              <a:t> </a:t>
            </a:r>
            <a:r>
              <a:rPr sz="2450" spc="-75" dirty="0">
                <a:solidFill>
                  <a:srgbClr val="525252"/>
                </a:solidFill>
                <a:latin typeface="Arial MT"/>
                <a:cs typeface="Arial MT"/>
              </a:rPr>
              <a:t>Regular</a:t>
            </a:r>
            <a:r>
              <a:rPr sz="2450" spc="100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2450" spc="-40" dirty="0">
                <a:solidFill>
                  <a:srgbClr val="505050"/>
                </a:solidFill>
                <a:latin typeface="Arial MT"/>
                <a:cs typeface="Arial MT"/>
              </a:rPr>
              <a:t>Phishing</a:t>
            </a:r>
            <a:r>
              <a:rPr sz="2450" spc="-5" dirty="0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464646"/>
                </a:solidFill>
                <a:latin typeface="Arial MT"/>
                <a:cs typeface="Arial MT"/>
              </a:rPr>
              <a:t>Simulation:’”</a:t>
            </a:r>
            <a:r>
              <a:rPr sz="2450" spc="6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414141"/>
                </a:solidFill>
                <a:latin typeface="Arial MT"/>
                <a:cs typeface="Arial MT"/>
              </a:rPr>
              <a:t>Monthly,</a:t>
            </a:r>
            <a:r>
              <a:rPr sz="2450" spc="20" dirty="0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sz="2450" spc="-20" dirty="0">
                <a:solidFill>
                  <a:srgbClr val="464646"/>
                </a:solidFill>
                <a:latin typeface="Arial MT"/>
                <a:cs typeface="Arial MT"/>
              </a:rPr>
              <a:t>unannounced 	</a:t>
            </a:r>
            <a:r>
              <a:rPr sz="2450" dirty="0">
                <a:solidFill>
                  <a:srgbClr val="464646"/>
                </a:solidFill>
                <a:latin typeface="Arial MT"/>
                <a:cs typeface="Arial MT"/>
              </a:rPr>
              <a:t>tests</a:t>
            </a:r>
            <a:r>
              <a:rPr sz="2450" spc="-2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4D6777"/>
                </a:solidFill>
                <a:latin typeface="Arial MT"/>
                <a:cs typeface="Arial MT"/>
              </a:rPr>
              <a:t>to</a:t>
            </a:r>
            <a:r>
              <a:rPr sz="2450" spc="-50" dirty="0">
                <a:solidFill>
                  <a:srgbClr val="4D6777"/>
                </a:solidFill>
                <a:latin typeface="Arial MT"/>
                <a:cs typeface="Arial MT"/>
              </a:rPr>
              <a:t> </a:t>
            </a:r>
            <a:r>
              <a:rPr sz="2450" spc="-20" dirty="0">
                <a:solidFill>
                  <a:srgbClr val="3B5779"/>
                </a:solidFill>
                <a:latin typeface="Arial MT"/>
                <a:cs typeface="Arial MT"/>
              </a:rPr>
              <a:t>drill</a:t>
            </a:r>
            <a:r>
              <a:rPr sz="2450" spc="-110" dirty="0">
                <a:solidFill>
                  <a:srgbClr val="3B5779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444444"/>
                </a:solidFill>
                <a:latin typeface="Arial MT"/>
                <a:cs typeface="Arial MT"/>
              </a:rPr>
              <a:t>users</a:t>
            </a:r>
            <a:r>
              <a:rPr sz="2450" spc="9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2450" spc="-20" dirty="0">
                <a:solidFill>
                  <a:srgbClr val="525252"/>
                </a:solidFill>
                <a:latin typeface="Arial MT"/>
                <a:cs typeface="Arial MT"/>
              </a:rPr>
              <a:t>on</a:t>
            </a:r>
            <a:r>
              <a:rPr sz="2450" spc="-125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424242"/>
                </a:solidFill>
                <a:latin typeface="Arial MT"/>
                <a:cs typeface="Arial MT"/>
              </a:rPr>
              <a:t>identifying</a:t>
            </a:r>
            <a:r>
              <a:rPr sz="2450" spc="-5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3B3B3B"/>
                </a:solidFill>
                <a:latin typeface="Arial MT"/>
                <a:cs typeface="Arial MT"/>
              </a:rPr>
              <a:t>threats.</a:t>
            </a:r>
            <a:endParaRPr sz="2450">
              <a:latin typeface="Arial MT"/>
              <a:cs typeface="Arial MT"/>
            </a:endParaRPr>
          </a:p>
          <a:p>
            <a:pPr marL="314960" marR="323850" indent="-302895">
              <a:lnSpc>
                <a:spcPct val="120900"/>
              </a:lnSpc>
              <a:spcBef>
                <a:spcPts val="1025"/>
              </a:spcBef>
              <a:buChar char="•"/>
              <a:tabLst>
                <a:tab pos="314960" algn="l"/>
                <a:tab pos="329565" algn="l"/>
              </a:tabLst>
            </a:pPr>
            <a:r>
              <a:rPr sz="2450" dirty="0">
                <a:solidFill>
                  <a:srgbClr val="4F5977"/>
                </a:solidFill>
                <a:latin typeface="Arial MT"/>
                <a:cs typeface="Arial MT"/>
              </a:rPr>
              <a:t>	</a:t>
            </a:r>
            <a:r>
              <a:rPr sz="2450" spc="-10" dirty="0">
                <a:solidFill>
                  <a:srgbClr val="465666"/>
                </a:solidFill>
                <a:latin typeface="Arial MT"/>
                <a:cs typeface="Arial MT"/>
              </a:rPr>
              <a:t>'r</a:t>
            </a:r>
            <a:r>
              <a:rPr sz="2450" spc="-10" dirty="0">
                <a:solidFill>
                  <a:srgbClr val="3F3F3F"/>
                </a:solidFill>
                <a:latin typeface="Arial MT"/>
                <a:cs typeface="Arial MT"/>
              </a:rPr>
              <a:t>'rAnnual</a:t>
            </a:r>
            <a:r>
              <a:rPr sz="2450" spc="-345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4B4B4B"/>
                </a:solidFill>
                <a:latin typeface="Arial MT"/>
                <a:cs typeface="Arial MT"/>
              </a:rPr>
              <a:t>Security</a:t>
            </a:r>
            <a:r>
              <a:rPr sz="2450" spc="-75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424242"/>
                </a:solidFill>
                <a:latin typeface="Arial MT"/>
                <a:cs typeface="Arial MT"/>
              </a:rPr>
              <a:t>Training:””</a:t>
            </a:r>
            <a:r>
              <a:rPr sz="2450" spc="15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2450" spc="-40" dirty="0">
                <a:solidFill>
                  <a:srgbClr val="484848"/>
                </a:solidFill>
                <a:latin typeface="Arial MT"/>
                <a:cs typeface="Arial MT"/>
              </a:rPr>
              <a:t>Comprehensive</a:t>
            </a:r>
            <a:r>
              <a:rPr sz="2450" spc="20" dirty="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424242"/>
                </a:solidFill>
                <a:latin typeface="Arial MT"/>
                <a:cs typeface="Arial MT"/>
              </a:rPr>
              <a:t>training </a:t>
            </a:r>
            <a:r>
              <a:rPr sz="2450" dirty="0">
                <a:solidFill>
                  <a:srgbClr val="484848"/>
                </a:solidFill>
                <a:latin typeface="Arial MT"/>
                <a:cs typeface="Arial MT"/>
              </a:rPr>
              <a:t>on</a:t>
            </a:r>
            <a:r>
              <a:rPr sz="2450" spc="-150" dirty="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494949"/>
                </a:solidFill>
                <a:latin typeface="Arial MT"/>
                <a:cs typeface="Arial MT"/>
              </a:rPr>
              <a:t>password</a:t>
            </a:r>
            <a:r>
              <a:rPr sz="2450" spc="-135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450" spc="-20" dirty="0">
                <a:solidFill>
                  <a:srgbClr val="464646"/>
                </a:solidFill>
                <a:latin typeface="Arial MT"/>
                <a:cs typeface="Arial MT"/>
              </a:rPr>
              <a:t>hygiene,</a:t>
            </a:r>
            <a:r>
              <a:rPr sz="2450" spc="-114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450" spc="-35" dirty="0">
                <a:solidFill>
                  <a:srgbClr val="494949"/>
                </a:solidFill>
                <a:latin typeface="Arial MT"/>
                <a:cs typeface="Arial MT"/>
              </a:rPr>
              <a:t>ransomware,</a:t>
            </a:r>
            <a:r>
              <a:rPr sz="2450" spc="75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450" spc="-45" dirty="0">
                <a:solidFill>
                  <a:srgbClr val="4B4B4B"/>
                </a:solidFill>
                <a:latin typeface="Arial MT"/>
                <a:cs typeface="Arial MT"/>
              </a:rPr>
              <a:t>and</a:t>
            </a:r>
            <a:r>
              <a:rPr sz="2450" spc="-13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494949"/>
                </a:solidFill>
                <a:latin typeface="Arial MT"/>
                <a:cs typeface="Arial MT"/>
              </a:rPr>
              <a:t>reporting </a:t>
            </a:r>
            <a:r>
              <a:rPr sz="2450" spc="-10" dirty="0">
                <a:solidFill>
                  <a:srgbClr val="424242"/>
                </a:solidFill>
                <a:latin typeface="Arial MT"/>
                <a:cs typeface="Arial MT"/>
              </a:rPr>
              <a:t>procedures.</a:t>
            </a:r>
            <a:endParaRPr sz="2450">
              <a:latin typeface="Arial MT"/>
              <a:cs typeface="Arial MT"/>
            </a:endParaRPr>
          </a:p>
          <a:p>
            <a:pPr marL="285750" marR="313690" indent="-273685">
              <a:lnSpc>
                <a:spcPct val="122000"/>
              </a:lnSpc>
              <a:spcBef>
                <a:spcPts val="925"/>
              </a:spcBef>
              <a:buClr>
                <a:srgbClr val="465070"/>
              </a:buClr>
              <a:buChar char="•"/>
              <a:tabLst>
                <a:tab pos="328930" algn="l"/>
              </a:tabLst>
            </a:pPr>
            <a:r>
              <a:rPr sz="2450" dirty="0">
                <a:solidFill>
                  <a:srgbClr val="465260"/>
                </a:solidFill>
                <a:latin typeface="Arial MT"/>
                <a:cs typeface="Arial MT"/>
              </a:rPr>
              <a:t>*</a:t>
            </a:r>
            <a:r>
              <a:rPr sz="2450" spc="-170" dirty="0">
                <a:solidFill>
                  <a:srgbClr val="465260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465062"/>
                </a:solidFill>
                <a:latin typeface="Arial MT"/>
                <a:cs typeface="Arial MT"/>
              </a:rPr>
              <a:t>*</a:t>
            </a:r>
            <a:r>
              <a:rPr sz="2450" spc="-105" dirty="0">
                <a:solidFill>
                  <a:srgbClr val="465062"/>
                </a:solidFill>
                <a:latin typeface="Arial MT"/>
                <a:cs typeface="Arial MT"/>
              </a:rPr>
              <a:t> </a:t>
            </a:r>
            <a:r>
              <a:rPr sz="2450" spc="-65" dirty="0">
                <a:solidFill>
                  <a:srgbClr val="484848"/>
                </a:solidFill>
                <a:latin typeface="Arial MT"/>
                <a:cs typeface="Arial MT"/>
              </a:rPr>
              <a:t>Clear</a:t>
            </a:r>
            <a:r>
              <a:rPr sz="2450" spc="90" dirty="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sz="2450" spc="-40" dirty="0">
                <a:solidFill>
                  <a:srgbClr val="4B4B4B"/>
                </a:solidFill>
                <a:latin typeface="Arial MT"/>
                <a:cs typeface="Arial MT"/>
              </a:rPr>
              <a:t>Reporting</a:t>
            </a:r>
            <a:r>
              <a:rPr sz="2450" spc="6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383838"/>
                </a:solidFill>
                <a:latin typeface="Arial MT"/>
                <a:cs typeface="Arial MT"/>
              </a:rPr>
              <a:t>Channel:”’</a:t>
            </a:r>
            <a:r>
              <a:rPr sz="2450" spc="-10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2450" spc="-55" dirty="0">
                <a:solidFill>
                  <a:srgbClr val="494949"/>
                </a:solidFill>
                <a:latin typeface="Arial MT"/>
                <a:cs typeface="Arial MT"/>
              </a:rPr>
              <a:t>Establish</a:t>
            </a:r>
            <a:r>
              <a:rPr sz="2450" spc="85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450" spc="-254" dirty="0">
                <a:solidFill>
                  <a:srgbClr val="3F6277"/>
                </a:solidFill>
                <a:latin typeface="Arial MT"/>
                <a:cs typeface="Arial MT"/>
              </a:rPr>
              <a:t>a</a:t>
            </a:r>
            <a:r>
              <a:rPr sz="2450" spc="30" dirty="0">
                <a:solidFill>
                  <a:srgbClr val="3F6277"/>
                </a:solidFill>
                <a:latin typeface="Arial MT"/>
                <a:cs typeface="Arial MT"/>
              </a:rPr>
              <a:t> </a:t>
            </a:r>
            <a:r>
              <a:rPr sz="2450" spc="-35" dirty="0">
                <a:solidFill>
                  <a:srgbClr val="464646"/>
                </a:solidFill>
                <a:latin typeface="Arial MT"/>
                <a:cs typeface="Arial MT"/>
              </a:rPr>
              <a:t>non-</a:t>
            </a:r>
            <a:r>
              <a:rPr sz="2450" spc="-10" dirty="0">
                <a:solidFill>
                  <a:srgbClr val="464646"/>
                </a:solidFill>
                <a:latin typeface="Arial MT"/>
                <a:cs typeface="Arial MT"/>
              </a:rPr>
              <a:t>punitive 	</a:t>
            </a:r>
            <a:r>
              <a:rPr sz="2450" spc="-40" dirty="0">
                <a:solidFill>
                  <a:srgbClr val="545454"/>
                </a:solidFill>
                <a:latin typeface="Arial MT"/>
                <a:cs typeface="Arial MT"/>
              </a:rPr>
              <a:t>"Report</a:t>
            </a:r>
            <a:r>
              <a:rPr sz="2450" spc="30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2450" spc="-35" dirty="0">
                <a:solidFill>
                  <a:srgbClr val="4F4F4F"/>
                </a:solidFill>
                <a:latin typeface="Arial MT"/>
                <a:cs typeface="Arial MT"/>
              </a:rPr>
              <a:t>Phishing"</a:t>
            </a:r>
            <a:r>
              <a:rPr sz="2450" spc="75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444444"/>
                </a:solidFill>
                <a:latin typeface="Arial MT"/>
                <a:cs typeface="Arial MT"/>
              </a:rPr>
              <a:t>button</a:t>
            </a:r>
            <a:r>
              <a:rPr sz="2450" spc="-6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52607C"/>
                </a:solidFill>
                <a:latin typeface="Arial MT"/>
                <a:cs typeface="Arial MT"/>
              </a:rPr>
              <a:t>in</a:t>
            </a:r>
            <a:r>
              <a:rPr sz="2450" spc="-140" dirty="0">
                <a:solidFill>
                  <a:srgbClr val="52607C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484848"/>
                </a:solidFill>
                <a:latin typeface="Arial MT"/>
                <a:cs typeface="Arial MT"/>
              </a:rPr>
              <a:t>the</a:t>
            </a:r>
            <a:r>
              <a:rPr sz="2450" spc="-75" dirty="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sz="2450" spc="-70" dirty="0">
                <a:solidFill>
                  <a:srgbClr val="484848"/>
                </a:solidFill>
                <a:latin typeface="Arial MT"/>
                <a:cs typeface="Arial MT"/>
              </a:rPr>
              <a:t>email</a:t>
            </a:r>
            <a:r>
              <a:rPr sz="2450" spc="-60" dirty="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484848"/>
                </a:solidFill>
                <a:latin typeface="Arial MT"/>
                <a:cs typeface="Arial MT"/>
              </a:rPr>
              <a:t>client.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698898" y="4818304"/>
            <a:ext cx="8035290" cy="3604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800" spc="70" dirty="0">
                <a:solidFill>
                  <a:srgbClr val="0CBA83"/>
                </a:solidFill>
                <a:latin typeface="Arial MT"/>
                <a:cs typeface="Arial MT"/>
              </a:rPr>
              <a:t>'D</a:t>
            </a:r>
            <a:r>
              <a:rPr sz="2800" spc="-145" dirty="0">
                <a:solidFill>
                  <a:srgbClr val="0CBA83"/>
                </a:solidFill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Data</a:t>
            </a:r>
            <a:r>
              <a:rPr sz="2800" spc="45" dirty="0">
                <a:latin typeface="Arial MT"/>
                <a:cs typeface="Arial MT"/>
              </a:rPr>
              <a:t> </a:t>
            </a:r>
            <a:r>
              <a:rPr sz="2800" spc="100" dirty="0">
                <a:latin typeface="Arial MT"/>
                <a:cs typeface="Arial MT"/>
              </a:rPr>
              <a:t>Backup</a:t>
            </a:r>
            <a:r>
              <a:rPr sz="2800" spc="45" dirty="0">
                <a:latin typeface="Arial MT"/>
                <a:cs typeface="Arial MT"/>
              </a:rPr>
              <a:t> </a:t>
            </a:r>
            <a:r>
              <a:rPr sz="2800" spc="-65" dirty="0">
                <a:latin typeface="Arial MT"/>
                <a:cs typeface="Arial MT"/>
              </a:rPr>
              <a:t>&amp;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spc="60" dirty="0">
                <a:latin typeface="Arial MT"/>
                <a:cs typeface="Arial MT"/>
              </a:rPr>
              <a:t>Recovery</a:t>
            </a:r>
            <a:endParaRPr sz="2800">
              <a:latin typeface="Arial MT"/>
              <a:cs typeface="Arial MT"/>
            </a:endParaRPr>
          </a:p>
          <a:p>
            <a:pPr marL="308610" marR="5080" indent="-266065">
              <a:lnSpc>
                <a:spcPct val="124100"/>
              </a:lnSpc>
              <a:spcBef>
                <a:spcPts val="1350"/>
              </a:spcBef>
              <a:buClr>
                <a:srgbClr val="46506E"/>
              </a:buClr>
              <a:buChar char="•"/>
              <a:tabLst>
                <a:tab pos="328930" algn="l"/>
              </a:tabLst>
            </a:pPr>
            <a:r>
              <a:rPr sz="2450" dirty="0">
                <a:solidFill>
                  <a:srgbClr val="4B5964"/>
                </a:solidFill>
                <a:latin typeface="Arial MT"/>
                <a:cs typeface="Arial MT"/>
              </a:rPr>
              <a:t>*</a:t>
            </a:r>
            <a:r>
              <a:rPr sz="2450" spc="-190" dirty="0">
                <a:solidFill>
                  <a:srgbClr val="4B5964"/>
                </a:solidFill>
                <a:latin typeface="Arial MT"/>
                <a:cs typeface="Arial MT"/>
              </a:rPr>
              <a:t> </a:t>
            </a:r>
            <a:r>
              <a:rPr sz="2450" spc="110" dirty="0">
                <a:solidFill>
                  <a:srgbClr val="48596B"/>
                </a:solidFill>
                <a:latin typeface="Arial MT"/>
                <a:cs typeface="Arial MT"/>
              </a:rPr>
              <a:t>*</a:t>
            </a:r>
            <a:r>
              <a:rPr sz="2450" spc="110" dirty="0">
                <a:solidFill>
                  <a:srgbClr val="3B3B3B"/>
                </a:solidFill>
                <a:latin typeface="Arial MT"/>
                <a:cs typeface="Arial MT"/>
              </a:rPr>
              <a:t>3-2-</a:t>
            </a:r>
            <a:r>
              <a:rPr sz="2450" spc="145" dirty="0">
                <a:solidFill>
                  <a:srgbClr val="3B3B3B"/>
                </a:solidFill>
                <a:latin typeface="Arial MT"/>
                <a:cs typeface="Arial MT"/>
              </a:rPr>
              <a:t>1</a:t>
            </a:r>
            <a:r>
              <a:rPr sz="2450" spc="-330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2450" spc="-60" dirty="0">
                <a:solidFill>
                  <a:srgbClr val="384259"/>
                </a:solidFill>
                <a:latin typeface="Arial MT"/>
                <a:cs typeface="Arial MT"/>
              </a:rPr>
              <a:t>Backup</a:t>
            </a:r>
            <a:r>
              <a:rPr sz="2450" spc="-95" dirty="0">
                <a:solidFill>
                  <a:srgbClr val="384259"/>
                </a:solidFill>
                <a:latin typeface="Arial MT"/>
                <a:cs typeface="Arial MT"/>
              </a:rPr>
              <a:t> </a:t>
            </a:r>
            <a:r>
              <a:rPr sz="2450" spc="140" dirty="0">
                <a:solidFill>
                  <a:srgbClr val="464646"/>
                </a:solidFill>
                <a:latin typeface="Arial MT"/>
                <a:cs typeface="Arial MT"/>
              </a:rPr>
              <a:t>Rule:”</a:t>
            </a:r>
            <a:r>
              <a:rPr sz="2450" spc="-6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450" spc="-60" dirty="0">
                <a:solidFill>
                  <a:srgbClr val="5B6B8C"/>
                </a:solidFill>
                <a:latin typeface="Arial MT"/>
                <a:cs typeface="Arial MT"/>
              </a:rPr>
              <a:t>Maintain</a:t>
            </a:r>
            <a:r>
              <a:rPr sz="2450" spc="-15" dirty="0">
                <a:solidFill>
                  <a:srgbClr val="5B6B8C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6B8089"/>
                </a:solidFill>
                <a:latin typeface="Arial MT"/>
                <a:cs typeface="Arial MT"/>
              </a:rPr>
              <a:t>three</a:t>
            </a:r>
            <a:r>
              <a:rPr sz="2450" spc="45" dirty="0">
                <a:solidFill>
                  <a:srgbClr val="6B8089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3F3F3F"/>
                </a:solidFill>
                <a:latin typeface="Arial MT"/>
                <a:cs typeface="Arial MT"/>
              </a:rPr>
              <a:t>copies</a:t>
            </a:r>
            <a:r>
              <a:rPr sz="2450" spc="7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445460"/>
                </a:solidFill>
                <a:latin typeface="Arial MT"/>
                <a:cs typeface="Arial MT"/>
              </a:rPr>
              <a:t>of</a:t>
            </a:r>
            <a:r>
              <a:rPr sz="2450" spc="35" dirty="0">
                <a:solidFill>
                  <a:srgbClr val="445460"/>
                </a:solidFill>
                <a:latin typeface="Arial MT"/>
                <a:cs typeface="Arial MT"/>
              </a:rPr>
              <a:t> </a:t>
            </a:r>
            <a:r>
              <a:rPr sz="2450" spc="-40" dirty="0">
                <a:solidFill>
                  <a:srgbClr val="365464"/>
                </a:solidFill>
                <a:latin typeface="Arial MT"/>
                <a:cs typeface="Arial MT"/>
              </a:rPr>
              <a:t>data,</a:t>
            </a:r>
            <a:r>
              <a:rPr sz="2450" spc="-45" dirty="0">
                <a:solidFill>
                  <a:srgbClr val="365464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444444"/>
                </a:solidFill>
                <a:latin typeface="Arial MT"/>
                <a:cs typeface="Arial MT"/>
              </a:rPr>
              <a:t>on 	</a:t>
            </a:r>
            <a:r>
              <a:rPr sz="2450" dirty="0">
                <a:solidFill>
                  <a:srgbClr val="4B4B4B"/>
                </a:solidFill>
                <a:latin typeface="Arial MT"/>
                <a:cs typeface="Arial MT"/>
              </a:rPr>
              <a:t>two</a:t>
            </a:r>
            <a:r>
              <a:rPr sz="2450" spc="-1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4D4D4D"/>
                </a:solidFill>
                <a:latin typeface="Arial MT"/>
                <a:cs typeface="Arial MT"/>
              </a:rPr>
              <a:t>different</a:t>
            </a:r>
            <a:r>
              <a:rPr sz="2450" spc="110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2450" spc="-75" dirty="0">
                <a:solidFill>
                  <a:srgbClr val="444444"/>
                </a:solidFill>
                <a:latin typeface="Arial MT"/>
                <a:cs typeface="Arial MT"/>
              </a:rPr>
              <a:t>media</a:t>
            </a:r>
            <a:r>
              <a:rPr sz="2450" spc="-5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464646"/>
                </a:solidFill>
                <a:latin typeface="Arial MT"/>
                <a:cs typeface="Arial MT"/>
              </a:rPr>
              <a:t>types,</a:t>
            </a:r>
            <a:r>
              <a:rPr sz="2450" spc="-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44546E"/>
                </a:solidFill>
                <a:latin typeface="Arial MT"/>
                <a:cs typeface="Arial MT"/>
              </a:rPr>
              <a:t>with</a:t>
            </a:r>
            <a:r>
              <a:rPr sz="2450" spc="-20" dirty="0">
                <a:solidFill>
                  <a:srgbClr val="44546E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4B4B4B"/>
                </a:solidFill>
                <a:latin typeface="Arial MT"/>
                <a:cs typeface="Arial MT"/>
              </a:rPr>
              <a:t>one</a:t>
            </a:r>
            <a:r>
              <a:rPr sz="2450" spc="-5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4B4B4B"/>
                </a:solidFill>
                <a:latin typeface="Arial MT"/>
                <a:cs typeface="Arial MT"/>
              </a:rPr>
              <a:t>copy</a:t>
            </a:r>
            <a:r>
              <a:rPr sz="2450" spc="4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494949"/>
                </a:solidFill>
                <a:latin typeface="Arial MT"/>
                <a:cs typeface="Arial MT"/>
              </a:rPr>
              <a:t>offsite</a:t>
            </a:r>
            <a:r>
              <a:rPr sz="2450" spc="155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414141"/>
                </a:solidFill>
                <a:latin typeface="Arial MT"/>
                <a:cs typeface="Arial MT"/>
              </a:rPr>
              <a:t>(cloud).</a:t>
            </a:r>
            <a:endParaRPr sz="2450">
              <a:latin typeface="Arial MT"/>
              <a:cs typeface="Arial MT"/>
            </a:endParaRPr>
          </a:p>
          <a:p>
            <a:pPr marL="337820" marR="626110" indent="-294640">
              <a:lnSpc>
                <a:spcPct val="124100"/>
              </a:lnSpc>
              <a:spcBef>
                <a:spcPts val="865"/>
              </a:spcBef>
              <a:buChar char="•"/>
              <a:tabLst>
                <a:tab pos="337820" algn="l"/>
                <a:tab pos="354330" algn="l"/>
              </a:tabLst>
            </a:pPr>
            <a:r>
              <a:rPr sz="2450" dirty="0">
                <a:solidFill>
                  <a:srgbClr val="4B5672"/>
                </a:solidFill>
                <a:latin typeface="Arial MT"/>
                <a:cs typeface="Arial MT"/>
              </a:rPr>
              <a:t>	</a:t>
            </a:r>
            <a:r>
              <a:rPr sz="2450" spc="-254" dirty="0">
                <a:solidFill>
                  <a:srgbClr val="384457"/>
                </a:solidFill>
                <a:latin typeface="Arial MT"/>
                <a:cs typeface="Arial MT"/>
              </a:rPr>
              <a:t>a</a:t>
            </a:r>
            <a:r>
              <a:rPr sz="2450" spc="-330" dirty="0">
                <a:solidFill>
                  <a:srgbClr val="384457"/>
                </a:solidFill>
                <a:latin typeface="Arial MT"/>
                <a:cs typeface="Arial MT"/>
              </a:rPr>
              <a:t> </a:t>
            </a:r>
            <a:r>
              <a:rPr sz="2450" spc="-40" dirty="0">
                <a:solidFill>
                  <a:srgbClr val="31465D"/>
                </a:solidFill>
                <a:latin typeface="Arial MT"/>
                <a:cs typeface="Arial MT"/>
              </a:rPr>
              <a:t>a</a:t>
            </a:r>
            <a:r>
              <a:rPr sz="2450" spc="-40" dirty="0">
                <a:solidFill>
                  <a:srgbClr val="4D4D4D"/>
                </a:solidFill>
                <a:latin typeface="Arial MT"/>
                <a:cs typeface="Arial MT"/>
              </a:rPr>
              <a:t>Immutable</a:t>
            </a:r>
            <a:r>
              <a:rPr sz="2450" spc="-114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4B4B4B"/>
                </a:solidFill>
                <a:latin typeface="Arial MT"/>
                <a:cs typeface="Arial MT"/>
              </a:rPr>
              <a:t>Backups:””</a:t>
            </a:r>
            <a:r>
              <a:rPr sz="2450" spc="2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450" spc="-40" dirty="0">
                <a:solidFill>
                  <a:srgbClr val="444F64"/>
                </a:solidFill>
                <a:latin typeface="Arial MT"/>
                <a:cs typeface="Arial MT"/>
              </a:rPr>
              <a:t>Ensure </a:t>
            </a:r>
            <a:r>
              <a:rPr sz="2450" spc="-30" dirty="0">
                <a:solidFill>
                  <a:srgbClr val="464646"/>
                </a:solidFill>
                <a:latin typeface="Arial MT"/>
                <a:cs typeface="Arial MT"/>
              </a:rPr>
              <a:t>backups</a:t>
            </a:r>
            <a:r>
              <a:rPr sz="2450" spc="2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4D4D4D"/>
                </a:solidFill>
                <a:latin typeface="Arial MT"/>
                <a:cs typeface="Arial MT"/>
              </a:rPr>
              <a:t>cannot</a:t>
            </a:r>
            <a:r>
              <a:rPr sz="2450" spc="-10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4B597C"/>
                </a:solidFill>
                <a:latin typeface="Arial MT"/>
                <a:cs typeface="Arial MT"/>
              </a:rPr>
              <a:t>be </a:t>
            </a:r>
            <a:r>
              <a:rPr sz="2450" dirty="0">
                <a:solidFill>
                  <a:srgbClr val="464646"/>
                </a:solidFill>
                <a:latin typeface="Arial MT"/>
                <a:cs typeface="Arial MT"/>
              </a:rPr>
              <a:t>modified</a:t>
            </a:r>
            <a:r>
              <a:rPr sz="2450" spc="-1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464646"/>
                </a:solidFill>
                <a:latin typeface="Arial MT"/>
                <a:cs typeface="Arial MT"/>
              </a:rPr>
              <a:t>or</a:t>
            </a:r>
            <a:r>
              <a:rPr sz="2450" spc="-8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4B4B4B"/>
                </a:solidFill>
                <a:latin typeface="Arial MT"/>
                <a:cs typeface="Arial MT"/>
              </a:rPr>
              <a:t>deleted</a:t>
            </a:r>
            <a:r>
              <a:rPr sz="2450" spc="-6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3F3F3F"/>
                </a:solidFill>
                <a:latin typeface="Arial MT"/>
                <a:cs typeface="Arial MT"/>
              </a:rPr>
              <a:t>by</a:t>
            </a:r>
            <a:r>
              <a:rPr sz="2450" spc="-85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2450" spc="-250" dirty="0">
                <a:solidFill>
                  <a:srgbClr val="879CA1"/>
                </a:solidFill>
                <a:latin typeface="Arial MT"/>
                <a:cs typeface="Arial MT"/>
              </a:rPr>
              <a:t>a</a:t>
            </a:r>
            <a:r>
              <a:rPr sz="2450" spc="40" dirty="0">
                <a:solidFill>
                  <a:srgbClr val="879CA1"/>
                </a:solidFill>
                <a:latin typeface="Arial MT"/>
                <a:cs typeface="Arial MT"/>
              </a:rPr>
              <a:t> </a:t>
            </a:r>
            <a:r>
              <a:rPr sz="2450" spc="-35" dirty="0">
                <a:solidFill>
                  <a:srgbClr val="464646"/>
                </a:solidFill>
                <a:latin typeface="Arial MT"/>
                <a:cs typeface="Arial MT"/>
              </a:rPr>
              <a:t>ransomware</a:t>
            </a:r>
            <a:r>
              <a:rPr sz="2450" spc="6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424242"/>
                </a:solidFill>
                <a:latin typeface="Arial MT"/>
                <a:cs typeface="Arial MT"/>
              </a:rPr>
              <a:t>attack.</a:t>
            </a:r>
            <a:endParaRPr sz="2450">
              <a:latin typeface="Arial MT"/>
              <a:cs typeface="Arial MT"/>
            </a:endParaRPr>
          </a:p>
          <a:p>
            <a:pPr marL="308610" marR="428625" indent="-266065">
              <a:lnSpc>
                <a:spcPct val="122000"/>
              </a:lnSpc>
              <a:spcBef>
                <a:spcPts val="805"/>
              </a:spcBef>
              <a:buClr>
                <a:srgbClr val="495670"/>
              </a:buClr>
              <a:buChar char="•"/>
              <a:tabLst>
                <a:tab pos="337820" algn="l"/>
              </a:tabLst>
            </a:pPr>
            <a:r>
              <a:rPr sz="2450" dirty="0">
                <a:solidFill>
                  <a:srgbClr val="495669"/>
                </a:solidFill>
                <a:latin typeface="Arial MT"/>
                <a:cs typeface="Arial MT"/>
              </a:rPr>
              <a:t>*</a:t>
            </a:r>
            <a:r>
              <a:rPr sz="2450" spc="155" dirty="0">
                <a:solidFill>
                  <a:srgbClr val="495669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444444"/>
                </a:solidFill>
                <a:latin typeface="Arial MT"/>
                <a:cs typeface="Arial MT"/>
              </a:rPr>
              <a:t>*Test</a:t>
            </a:r>
            <a:r>
              <a:rPr sz="2450" spc="3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2450" spc="-35" dirty="0">
                <a:solidFill>
                  <a:srgbClr val="4B4B4B"/>
                </a:solidFill>
                <a:latin typeface="Arial MT"/>
                <a:cs typeface="Arial MT"/>
              </a:rPr>
              <a:t>Recovery</a:t>
            </a:r>
            <a:r>
              <a:rPr sz="2450" spc="7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450" spc="45" dirty="0">
                <a:solidFill>
                  <a:srgbClr val="385459"/>
                </a:solidFill>
                <a:latin typeface="Arial MT"/>
                <a:cs typeface="Arial MT"/>
              </a:rPr>
              <a:t>Plan:”’</a:t>
            </a:r>
            <a:r>
              <a:rPr sz="2450" spc="-70" dirty="0">
                <a:solidFill>
                  <a:srgbClr val="385459"/>
                </a:solidFill>
                <a:latin typeface="Arial MT"/>
                <a:cs typeface="Arial MT"/>
              </a:rPr>
              <a:t> </a:t>
            </a:r>
            <a:r>
              <a:rPr sz="2450" spc="-45" dirty="0">
                <a:solidFill>
                  <a:srgbClr val="4D4D4D"/>
                </a:solidFill>
                <a:latin typeface="Arial MT"/>
                <a:cs typeface="Arial MT"/>
              </a:rPr>
              <a:t>Periodically</a:t>
            </a:r>
            <a:r>
              <a:rPr sz="2450" spc="45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3F3F3F"/>
                </a:solidFill>
                <a:latin typeface="Arial MT"/>
                <a:cs typeface="Arial MT"/>
              </a:rPr>
              <a:t>test</a:t>
            </a:r>
            <a:r>
              <a:rPr sz="2450" spc="-7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3F3F3F"/>
                </a:solidFill>
                <a:latin typeface="Arial MT"/>
                <a:cs typeface="Arial MT"/>
              </a:rPr>
              <a:t>the</a:t>
            </a:r>
            <a:r>
              <a:rPr sz="2450" spc="3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2450" spc="-40" dirty="0">
                <a:solidFill>
                  <a:srgbClr val="414141"/>
                </a:solidFill>
                <a:latin typeface="Arial MT"/>
                <a:cs typeface="Arial MT"/>
              </a:rPr>
              <a:t>ability </a:t>
            </a:r>
            <a:r>
              <a:rPr sz="2450" spc="-25" dirty="0">
                <a:solidFill>
                  <a:srgbClr val="464646"/>
                </a:solidFill>
                <a:latin typeface="Arial MT"/>
                <a:cs typeface="Arial MT"/>
              </a:rPr>
              <a:t>to 	</a:t>
            </a:r>
            <a:r>
              <a:rPr sz="2450" dirty="0">
                <a:solidFill>
                  <a:srgbClr val="444444"/>
                </a:solidFill>
                <a:latin typeface="Arial MT"/>
                <a:cs typeface="Arial MT"/>
              </a:rPr>
              <a:t>restore</a:t>
            </a:r>
            <a:r>
              <a:rPr sz="2450" spc="5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2450" spc="-20" dirty="0">
                <a:solidFill>
                  <a:srgbClr val="3F3F3F"/>
                </a:solidFill>
                <a:latin typeface="Arial MT"/>
                <a:cs typeface="Arial MT"/>
              </a:rPr>
              <a:t>critical </a:t>
            </a:r>
            <a:r>
              <a:rPr sz="2450" dirty="0">
                <a:solidFill>
                  <a:srgbClr val="3F3F3F"/>
                </a:solidFill>
                <a:latin typeface="Arial MT"/>
                <a:cs typeface="Arial MT"/>
              </a:rPr>
              <a:t>systems</a:t>
            </a:r>
            <a:r>
              <a:rPr sz="2450" spc="55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444444"/>
                </a:solidFill>
                <a:latin typeface="Arial MT"/>
                <a:cs typeface="Arial MT"/>
              </a:rPr>
              <a:t>from</a:t>
            </a:r>
            <a:r>
              <a:rPr sz="2450" spc="-6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444444"/>
                </a:solidFill>
                <a:latin typeface="Arial MT"/>
                <a:cs typeface="Arial MT"/>
              </a:rPr>
              <a:t>backup.</a:t>
            </a:r>
            <a:endParaRPr sz="2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508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95"/>
              </a:spcBef>
            </a:pPr>
            <a:r>
              <a:rPr b="0" spc="-20" dirty="0">
                <a:solidFill>
                  <a:srgbClr val="1C3A90"/>
                </a:solidFill>
                <a:latin typeface="Arial MT"/>
                <a:cs typeface="Arial MT"/>
              </a:rPr>
              <a:t>Case</a:t>
            </a:r>
            <a:r>
              <a:rPr b="0" spc="-170" dirty="0">
                <a:solidFill>
                  <a:srgbClr val="1C3A90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D4185"/>
                </a:solidFill>
              </a:rPr>
              <a:t>Study</a:t>
            </a:r>
            <a:r>
              <a:rPr spc="-260" dirty="0">
                <a:solidFill>
                  <a:srgbClr val="1D4185"/>
                </a:solidFill>
              </a:rPr>
              <a:t> </a:t>
            </a:r>
            <a:r>
              <a:rPr spc="-335" dirty="0">
                <a:solidFill>
                  <a:srgbClr val="213B75"/>
                </a:solidFill>
              </a:rPr>
              <a:t>&amp;</a:t>
            </a:r>
            <a:r>
              <a:rPr spc="-105" dirty="0">
                <a:solidFill>
                  <a:srgbClr val="213B75"/>
                </a:solidFill>
              </a:rPr>
              <a:t> </a:t>
            </a:r>
            <a:r>
              <a:rPr spc="90" dirty="0"/>
              <a:t>Documentation:</a:t>
            </a:r>
            <a:r>
              <a:rPr spc="-850" dirty="0"/>
              <a:t> </a:t>
            </a:r>
            <a:r>
              <a:rPr b="0" spc="114" dirty="0">
                <a:solidFill>
                  <a:srgbClr val="1D3B83"/>
                </a:solidFill>
                <a:latin typeface="Arial MT"/>
                <a:cs typeface="Arial MT"/>
              </a:rPr>
              <a:t>Retail</a:t>
            </a:r>
            <a:r>
              <a:rPr b="0" spc="-180" dirty="0">
                <a:solidFill>
                  <a:srgbClr val="1D3B83"/>
                </a:solidFill>
                <a:latin typeface="Arial MT"/>
                <a:cs typeface="Arial MT"/>
              </a:rPr>
              <a:t> </a:t>
            </a:r>
            <a:r>
              <a:rPr b="0" spc="-25" dirty="0">
                <a:solidFill>
                  <a:srgbClr val="1F388A"/>
                </a:solidFill>
                <a:latin typeface="Arial MT"/>
                <a:cs typeface="Arial MT"/>
              </a:rPr>
              <a:t>SME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0335" y="2654103"/>
            <a:ext cx="9667240" cy="652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35"/>
              </a:spcBef>
              <a:tabLst>
                <a:tab pos="398145" algn="l"/>
              </a:tabLst>
            </a:pPr>
            <a:r>
              <a:rPr sz="5550" spc="-75" baseline="-10510" dirty="0">
                <a:solidFill>
                  <a:srgbClr val="3A80FF"/>
                </a:solidFill>
                <a:latin typeface="Arial MT"/>
                <a:cs typeface="Arial MT"/>
              </a:rPr>
              <a:t>I</a:t>
            </a:r>
            <a:r>
              <a:rPr sz="5550" baseline="-10510" dirty="0">
                <a:solidFill>
                  <a:srgbClr val="3A80FF"/>
                </a:solidFill>
                <a:latin typeface="Arial MT"/>
                <a:cs typeface="Arial MT"/>
              </a:rPr>
              <a:t>	</a:t>
            </a:r>
            <a:r>
              <a:rPr sz="3700" spc="-55" dirty="0">
                <a:solidFill>
                  <a:srgbClr val="212121"/>
                </a:solidFill>
                <a:latin typeface="Arial MT"/>
                <a:cs typeface="Arial MT"/>
              </a:rPr>
              <a:t>Case</a:t>
            </a:r>
            <a:r>
              <a:rPr sz="3700" spc="8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3700" spc="114" dirty="0">
                <a:solidFill>
                  <a:srgbClr val="1F1F1F"/>
                </a:solidFill>
                <a:latin typeface="Arial MT"/>
                <a:cs typeface="Arial MT"/>
              </a:rPr>
              <a:t>Study:</a:t>
            </a:r>
            <a:r>
              <a:rPr sz="3700" spc="-19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3700" dirty="0">
                <a:solidFill>
                  <a:srgbClr val="232323"/>
                </a:solidFill>
                <a:latin typeface="Arial MT"/>
                <a:cs typeface="Arial MT"/>
              </a:rPr>
              <a:t>Local</a:t>
            </a:r>
            <a:r>
              <a:rPr sz="3700" spc="1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3700" dirty="0">
                <a:solidFill>
                  <a:srgbClr val="1F1F1F"/>
                </a:solidFill>
                <a:latin typeface="Arial MT"/>
                <a:cs typeface="Arial MT"/>
              </a:rPr>
              <a:t>E-Commerce</a:t>
            </a:r>
            <a:r>
              <a:rPr sz="3700" spc="39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3700" spc="-20" dirty="0">
                <a:solidFill>
                  <a:srgbClr val="232323"/>
                </a:solidFill>
                <a:latin typeface="Arial MT"/>
                <a:cs typeface="Arial MT"/>
              </a:rPr>
              <a:t>Shop</a:t>
            </a:r>
            <a:endParaRPr sz="3700">
              <a:latin typeface="Arial MT"/>
              <a:cs typeface="Arial MT"/>
            </a:endParaRPr>
          </a:p>
          <a:p>
            <a:pPr marL="111125" marR="422275" indent="-11430">
              <a:lnSpc>
                <a:spcPct val="129299"/>
              </a:lnSpc>
              <a:spcBef>
                <a:spcPts val="1810"/>
              </a:spcBef>
            </a:pPr>
            <a:r>
              <a:rPr sz="2550" spc="80" dirty="0">
                <a:solidFill>
                  <a:srgbClr val="3D80FB"/>
                </a:solidFill>
                <a:latin typeface="Arial MT"/>
                <a:cs typeface="Arial MT"/>
              </a:rPr>
              <a:t>Initial</a:t>
            </a:r>
            <a:r>
              <a:rPr sz="2550" spc="-140" dirty="0">
                <a:solidFill>
                  <a:srgbClr val="3D80FB"/>
                </a:solidFill>
                <a:latin typeface="Arial MT"/>
                <a:cs typeface="Arial MT"/>
              </a:rPr>
              <a:t> </a:t>
            </a:r>
            <a:r>
              <a:rPr sz="2550" spc="60" dirty="0">
                <a:solidFill>
                  <a:srgbClr val="447CE4"/>
                </a:solidFill>
                <a:latin typeface="Arial MT"/>
                <a:cs typeface="Arial MT"/>
              </a:rPr>
              <a:t>State:</a:t>
            </a:r>
            <a:r>
              <a:rPr sz="2550" spc="245" dirty="0">
                <a:solidFill>
                  <a:srgbClr val="447CE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B4B4B"/>
                </a:solidFill>
                <a:latin typeface="Arial MT"/>
                <a:cs typeface="Arial MT"/>
              </a:rPr>
              <a:t>Shared</a:t>
            </a:r>
            <a:r>
              <a:rPr sz="2550" spc="21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F4F4F"/>
                </a:solidFill>
                <a:latin typeface="Arial MT"/>
                <a:cs typeface="Arial MT"/>
              </a:rPr>
              <a:t>admin</a:t>
            </a:r>
            <a:r>
              <a:rPr sz="2550" spc="220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B4B4B"/>
                </a:solidFill>
                <a:latin typeface="Arial MT"/>
                <a:cs typeface="Arial MT"/>
              </a:rPr>
              <a:t>account,</a:t>
            </a:r>
            <a:r>
              <a:rPr sz="2550" spc="275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505050"/>
                </a:solidFill>
                <a:latin typeface="Arial MT"/>
                <a:cs typeface="Arial MT"/>
              </a:rPr>
              <a:t>no</a:t>
            </a:r>
            <a:r>
              <a:rPr sz="2550" spc="140" dirty="0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sz="2550" spc="-20" dirty="0">
                <a:solidFill>
                  <a:srgbClr val="4F4F4F"/>
                </a:solidFill>
                <a:latin typeface="Arial MT"/>
                <a:cs typeface="Arial MT"/>
              </a:rPr>
              <a:t>MFA,</a:t>
            </a:r>
            <a:r>
              <a:rPr sz="2550" spc="240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F4F4F"/>
                </a:solidFill>
                <a:latin typeface="Arial MT"/>
                <a:cs typeface="Arial MT"/>
              </a:rPr>
              <a:t>reliance</a:t>
            </a:r>
            <a:r>
              <a:rPr sz="2550" spc="285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25260"/>
                </a:solidFill>
                <a:latin typeface="Arial MT"/>
                <a:cs typeface="Arial MT"/>
              </a:rPr>
              <a:t>on</a:t>
            </a:r>
            <a:r>
              <a:rPr sz="2550" spc="100" dirty="0">
                <a:solidFill>
                  <a:srgbClr val="425260"/>
                </a:solidFill>
                <a:latin typeface="Arial MT"/>
                <a:cs typeface="Arial MT"/>
              </a:rPr>
              <a:t> </a:t>
            </a:r>
            <a:r>
              <a:rPr sz="2550" spc="60" dirty="0">
                <a:solidFill>
                  <a:srgbClr val="525252"/>
                </a:solidFill>
                <a:latin typeface="Arial MT"/>
                <a:cs typeface="Arial MT"/>
              </a:rPr>
              <a:t>free </a:t>
            </a:r>
            <a:r>
              <a:rPr sz="2550" dirty="0">
                <a:solidFill>
                  <a:srgbClr val="505050"/>
                </a:solidFill>
                <a:latin typeface="Arial MT"/>
                <a:cs typeface="Arial MT"/>
              </a:rPr>
              <a:t>antivirus,</a:t>
            </a:r>
            <a:r>
              <a:rPr sz="2550" spc="225" dirty="0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sz="2550" spc="-25" dirty="0">
                <a:solidFill>
                  <a:srgbClr val="4F4F4F"/>
                </a:solidFill>
                <a:latin typeface="Arial MT"/>
                <a:cs typeface="Arial MT"/>
              </a:rPr>
              <a:t>100</a:t>
            </a:r>
            <a:r>
              <a:rPr sz="2550" spc="-365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94949"/>
                </a:solidFill>
                <a:latin typeface="Arial MT"/>
                <a:cs typeface="Arial MT"/>
              </a:rPr>
              <a:t>%</a:t>
            </a:r>
            <a:r>
              <a:rPr sz="2550" spc="380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D4D4D"/>
                </a:solidFill>
                <a:latin typeface="Arial MT"/>
                <a:cs typeface="Arial MT"/>
              </a:rPr>
              <a:t>cloud</a:t>
            </a:r>
            <a:r>
              <a:rPr sz="2550" spc="210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2550" spc="50" dirty="0">
                <a:solidFill>
                  <a:srgbClr val="505050"/>
                </a:solidFill>
                <a:latin typeface="Arial MT"/>
                <a:cs typeface="Arial MT"/>
              </a:rPr>
              <a:t>hosting</a:t>
            </a:r>
            <a:r>
              <a:rPr sz="2550" spc="370" dirty="0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414141"/>
                </a:solidFill>
                <a:latin typeface="Arial MT"/>
                <a:cs typeface="Arial MT"/>
              </a:rPr>
              <a:t>(AWS).</a:t>
            </a:r>
            <a:endParaRPr sz="2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2550">
              <a:latin typeface="Arial MT"/>
              <a:cs typeface="Arial MT"/>
            </a:endParaRPr>
          </a:p>
          <a:p>
            <a:pPr marL="115570">
              <a:lnSpc>
                <a:spcPct val="100000"/>
              </a:lnSpc>
            </a:pPr>
            <a:r>
              <a:rPr sz="2550" spc="50" dirty="0">
                <a:solidFill>
                  <a:srgbClr val="4480F4"/>
                </a:solidFill>
                <a:latin typeface="Arial MT"/>
                <a:cs typeface="Arial MT"/>
              </a:rPr>
              <a:t>Assessment</a:t>
            </a:r>
            <a:r>
              <a:rPr sz="2550" spc="250" dirty="0">
                <a:solidFill>
                  <a:srgbClr val="4480F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367CFB"/>
                </a:solidFill>
                <a:latin typeface="Arial MT"/>
                <a:cs typeface="Arial MT"/>
              </a:rPr>
              <a:t>(NIST</a:t>
            </a:r>
            <a:r>
              <a:rPr sz="2550" spc="105" dirty="0">
                <a:solidFill>
                  <a:srgbClr val="367CFB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3F87E6"/>
                </a:solidFill>
                <a:latin typeface="Arial MT"/>
                <a:cs typeface="Arial MT"/>
              </a:rPr>
              <a:t>-</a:t>
            </a:r>
            <a:r>
              <a:rPr sz="2550" spc="-15" dirty="0">
                <a:solidFill>
                  <a:srgbClr val="3F87E6"/>
                </a:solidFill>
                <a:latin typeface="Arial MT"/>
                <a:cs typeface="Arial MT"/>
              </a:rPr>
              <a:t> </a:t>
            </a:r>
            <a:r>
              <a:rPr sz="2550" spc="114" dirty="0">
                <a:solidFill>
                  <a:srgbClr val="3B7BFD"/>
                </a:solidFill>
                <a:latin typeface="Arial MT"/>
                <a:cs typeface="Arial MT"/>
              </a:rPr>
              <a:t>Identify):</a:t>
            </a:r>
            <a:endParaRPr sz="2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2550">
              <a:latin typeface="Arial MT"/>
              <a:cs typeface="Arial MT"/>
            </a:endParaRPr>
          </a:p>
          <a:p>
            <a:pPr marL="89535">
              <a:lnSpc>
                <a:spcPct val="100000"/>
              </a:lnSpc>
              <a:tabLst>
                <a:tab pos="656590" algn="l"/>
              </a:tabLst>
            </a:pPr>
            <a:r>
              <a:rPr sz="2550" spc="25" dirty="0">
                <a:solidFill>
                  <a:srgbClr val="15B582"/>
                </a:solidFill>
                <a:latin typeface="Arial MT"/>
                <a:cs typeface="Arial MT"/>
              </a:rPr>
              <a:t>@</a:t>
            </a:r>
            <a:r>
              <a:rPr sz="2550" dirty="0">
                <a:solidFill>
                  <a:srgbClr val="15B582"/>
                </a:solidFill>
                <a:latin typeface="Arial MT"/>
                <a:cs typeface="Arial MT"/>
              </a:rPr>
              <a:t>	</a:t>
            </a:r>
            <a:r>
              <a:rPr sz="2550" dirty="0">
                <a:solidFill>
                  <a:srgbClr val="4B4B4B"/>
                </a:solidFill>
                <a:latin typeface="Arial MT"/>
                <a:cs typeface="Arial MT"/>
              </a:rPr>
              <a:t>Critical</a:t>
            </a:r>
            <a:r>
              <a:rPr sz="2550" spc="20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383838"/>
                </a:solidFill>
                <a:latin typeface="Arial MT"/>
                <a:cs typeface="Arial MT"/>
              </a:rPr>
              <a:t>Risk:</a:t>
            </a:r>
            <a:r>
              <a:rPr sz="2550" spc="260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2A4664"/>
                </a:solidFill>
                <a:latin typeface="Arial MT"/>
                <a:cs typeface="Arial MT"/>
              </a:rPr>
              <a:t>Phishing</a:t>
            </a:r>
            <a:r>
              <a:rPr sz="2550" spc="390" dirty="0">
                <a:solidFill>
                  <a:srgbClr val="2A466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505050"/>
                </a:solidFill>
                <a:latin typeface="Arial MT"/>
                <a:cs typeface="Arial MT"/>
              </a:rPr>
              <a:t>(Score</a:t>
            </a:r>
            <a:r>
              <a:rPr sz="2550" spc="425" dirty="0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sz="2550" spc="-25" dirty="0">
                <a:solidFill>
                  <a:srgbClr val="424242"/>
                </a:solidFill>
                <a:latin typeface="Arial MT"/>
                <a:cs typeface="Arial MT"/>
              </a:rPr>
              <a:t>20)</a:t>
            </a:r>
            <a:endParaRPr sz="2550">
              <a:latin typeface="Arial MT"/>
              <a:cs typeface="Arial MT"/>
            </a:endParaRPr>
          </a:p>
          <a:p>
            <a:pPr marL="89535">
              <a:lnSpc>
                <a:spcPct val="100000"/>
              </a:lnSpc>
              <a:spcBef>
                <a:spcPts val="2690"/>
              </a:spcBef>
              <a:tabLst>
                <a:tab pos="654685" algn="l"/>
              </a:tabLst>
            </a:pPr>
            <a:r>
              <a:rPr sz="2550" spc="25" dirty="0">
                <a:solidFill>
                  <a:srgbClr val="16B883"/>
                </a:solidFill>
                <a:latin typeface="Arial MT"/>
                <a:cs typeface="Arial MT"/>
              </a:rPr>
              <a:t>@</a:t>
            </a:r>
            <a:r>
              <a:rPr sz="2550" dirty="0">
                <a:solidFill>
                  <a:srgbClr val="16B883"/>
                </a:solidFill>
                <a:latin typeface="Arial MT"/>
                <a:cs typeface="Arial MT"/>
              </a:rPr>
              <a:t>	</a:t>
            </a:r>
            <a:r>
              <a:rPr sz="2550" dirty="0">
                <a:solidFill>
                  <a:srgbClr val="385975"/>
                </a:solidFill>
                <a:latin typeface="Arial MT"/>
                <a:cs typeface="Arial MT"/>
              </a:rPr>
              <a:t>High</a:t>
            </a:r>
            <a:r>
              <a:rPr sz="2550" spc="140" dirty="0">
                <a:solidFill>
                  <a:srgbClr val="385975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366079"/>
                </a:solidFill>
                <a:latin typeface="Arial MT"/>
                <a:cs typeface="Arial MT"/>
              </a:rPr>
              <a:t>Risk:</a:t>
            </a:r>
            <a:r>
              <a:rPr sz="2550" spc="215" dirty="0">
                <a:solidFill>
                  <a:srgbClr val="366079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F4F4F"/>
                </a:solidFill>
                <a:latin typeface="Arial MT"/>
                <a:cs typeface="Arial MT"/>
              </a:rPr>
              <a:t>Cloud</a:t>
            </a:r>
            <a:r>
              <a:rPr sz="2550" spc="114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2550" spc="75" dirty="0">
                <a:solidFill>
                  <a:srgbClr val="4F4F4F"/>
                </a:solidFill>
                <a:latin typeface="Arial MT"/>
                <a:cs typeface="Arial MT"/>
              </a:rPr>
              <a:t>Misconfiguration</a:t>
            </a:r>
            <a:r>
              <a:rPr sz="2550" spc="55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B4B4B"/>
                </a:solidFill>
                <a:latin typeface="Arial MT"/>
                <a:cs typeface="Arial MT"/>
              </a:rPr>
              <a:t>(Score</a:t>
            </a:r>
            <a:r>
              <a:rPr sz="2550" spc="95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550" spc="-25" dirty="0">
                <a:solidFill>
                  <a:srgbClr val="525252"/>
                </a:solidFill>
                <a:latin typeface="Arial MT"/>
                <a:cs typeface="Arial MT"/>
              </a:rPr>
              <a:t>15)</a:t>
            </a:r>
            <a:endParaRPr sz="2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2550">
              <a:latin typeface="Arial MT"/>
              <a:cs typeface="Arial MT"/>
            </a:endParaRPr>
          </a:p>
          <a:p>
            <a:pPr marL="113664">
              <a:lnSpc>
                <a:spcPct val="100000"/>
              </a:lnSpc>
              <a:tabLst>
                <a:tab pos="1843405" algn="l"/>
                <a:tab pos="7393305" algn="l"/>
              </a:tabLst>
            </a:pPr>
            <a:r>
              <a:rPr sz="2550" spc="-10" dirty="0">
                <a:solidFill>
                  <a:srgbClr val="3690E9"/>
                </a:solidFill>
                <a:latin typeface="Arial MT"/>
                <a:cs typeface="Arial MT"/>
              </a:rPr>
              <a:t>Validation:</a:t>
            </a:r>
            <a:r>
              <a:rPr sz="2550" dirty="0">
                <a:solidFill>
                  <a:srgbClr val="3690E9"/>
                </a:solidFill>
                <a:latin typeface="Arial MT"/>
                <a:cs typeface="Arial MT"/>
              </a:rPr>
              <a:t>	</a:t>
            </a:r>
            <a:r>
              <a:rPr sz="2550" dirty="0">
                <a:solidFill>
                  <a:srgbClr val="4D4D4D"/>
                </a:solidFill>
                <a:latin typeface="Arial MT"/>
                <a:cs typeface="Arial MT"/>
              </a:rPr>
              <a:t>The</a:t>
            </a:r>
            <a:r>
              <a:rPr sz="2550" spc="385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D4D4D"/>
                </a:solidFill>
                <a:latin typeface="Arial MT"/>
                <a:cs typeface="Arial MT"/>
              </a:rPr>
              <a:t>model</a:t>
            </a:r>
            <a:r>
              <a:rPr sz="2550" spc="500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94949"/>
                </a:solidFill>
                <a:latin typeface="Arial MT"/>
                <a:cs typeface="Arial MT"/>
              </a:rPr>
              <a:t>successfully</a:t>
            </a:r>
            <a:r>
              <a:rPr sz="2550" spc="615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550" spc="55" dirty="0">
                <a:solidFill>
                  <a:srgbClr val="4B4B4B"/>
                </a:solidFill>
                <a:latin typeface="Arial MT"/>
                <a:cs typeface="Arial MT"/>
              </a:rPr>
              <a:t>identified</a:t>
            </a:r>
            <a:r>
              <a:rPr sz="2550" dirty="0">
                <a:solidFill>
                  <a:srgbClr val="4B4B4B"/>
                </a:solidFill>
                <a:latin typeface="Arial MT"/>
                <a:cs typeface="Arial MT"/>
              </a:rPr>
              <a:t>	</a:t>
            </a:r>
            <a:r>
              <a:rPr sz="2550" spc="50" dirty="0">
                <a:solidFill>
                  <a:srgbClr val="494949"/>
                </a:solidFill>
                <a:latin typeface="Arial MT"/>
                <a:cs typeface="Arial MT"/>
              </a:rPr>
              <a:t>Phishing**</a:t>
            </a:r>
            <a:r>
              <a:rPr sz="2550" spc="370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550" spc="-25" dirty="0">
                <a:solidFill>
                  <a:srgbClr val="3D5970"/>
                </a:solidFill>
                <a:latin typeface="Arial MT"/>
                <a:cs typeface="Arial MT"/>
              </a:rPr>
              <a:t>and</a:t>
            </a:r>
            <a:endParaRPr sz="2550">
              <a:latin typeface="Arial MT"/>
              <a:cs typeface="Arial MT"/>
            </a:endParaRPr>
          </a:p>
          <a:p>
            <a:pPr marL="101600" marR="267335" indent="222885">
              <a:lnSpc>
                <a:spcPct val="129299"/>
              </a:lnSpc>
              <a:tabLst>
                <a:tab pos="6061710" algn="l"/>
              </a:tabLst>
            </a:pPr>
            <a:r>
              <a:rPr sz="2550" dirty="0">
                <a:solidFill>
                  <a:srgbClr val="4B4B4B"/>
                </a:solidFill>
                <a:latin typeface="Arial MT"/>
                <a:cs typeface="Arial MT"/>
              </a:rPr>
              <a:t>+Access</a:t>
            </a:r>
            <a:r>
              <a:rPr sz="2550" spc="295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550" spc="85" dirty="0">
                <a:solidFill>
                  <a:srgbClr val="4F4F4F"/>
                </a:solidFill>
                <a:latin typeface="Arial MT"/>
                <a:cs typeface="Arial MT"/>
              </a:rPr>
              <a:t>Control**</a:t>
            </a:r>
            <a:r>
              <a:rPr sz="2550" spc="335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B6274"/>
                </a:solidFill>
                <a:latin typeface="Arial MT"/>
                <a:cs typeface="Arial MT"/>
              </a:rPr>
              <a:t>as</a:t>
            </a:r>
            <a:r>
              <a:rPr sz="2550" spc="185" dirty="0">
                <a:solidFill>
                  <a:srgbClr val="4B6274"/>
                </a:solidFill>
                <a:latin typeface="Arial MT"/>
                <a:cs typeface="Arial MT"/>
              </a:rPr>
              <a:t> </a:t>
            </a:r>
            <a:r>
              <a:rPr sz="2550" spc="75" dirty="0">
                <a:solidFill>
                  <a:srgbClr val="464646"/>
                </a:solidFill>
                <a:latin typeface="Arial MT"/>
                <a:cs typeface="Arial MT"/>
              </a:rPr>
              <a:t>the</a:t>
            </a:r>
            <a:r>
              <a:rPr sz="2550" spc="16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B4B4B"/>
                </a:solidFill>
                <a:latin typeface="Arial MT"/>
                <a:cs typeface="Arial MT"/>
              </a:rPr>
              <a:t>highest</a:t>
            </a:r>
            <a:r>
              <a:rPr sz="2550" spc="395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550" spc="65" dirty="0">
                <a:solidFill>
                  <a:srgbClr val="464646"/>
                </a:solidFill>
                <a:latin typeface="Arial MT"/>
                <a:cs typeface="Arial MT"/>
              </a:rPr>
              <a:t>priority</a:t>
            </a:r>
            <a:r>
              <a:rPr sz="2550" spc="29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50" spc="55" dirty="0">
                <a:solidFill>
                  <a:srgbClr val="494949"/>
                </a:solidFill>
                <a:latin typeface="Arial MT"/>
                <a:cs typeface="Arial MT"/>
              </a:rPr>
              <a:t>risks,</a:t>
            </a:r>
            <a:r>
              <a:rPr sz="2550" spc="215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95666"/>
                </a:solidFill>
                <a:latin typeface="Arial MT"/>
                <a:cs typeface="Arial MT"/>
              </a:rPr>
              <a:t>aligning</a:t>
            </a:r>
            <a:r>
              <a:rPr sz="2550" spc="345" dirty="0">
                <a:solidFill>
                  <a:srgbClr val="495666"/>
                </a:solidFill>
                <a:latin typeface="Arial MT"/>
                <a:cs typeface="Arial MT"/>
              </a:rPr>
              <a:t> </a:t>
            </a:r>
            <a:r>
              <a:rPr sz="2550" spc="-20" dirty="0">
                <a:solidFill>
                  <a:srgbClr val="4F4F4F"/>
                </a:solidFill>
                <a:latin typeface="Arial MT"/>
                <a:cs typeface="Arial MT"/>
              </a:rPr>
              <a:t>with </a:t>
            </a:r>
            <a:r>
              <a:rPr sz="2550" spc="75" dirty="0">
                <a:solidFill>
                  <a:srgbClr val="4D4D4D"/>
                </a:solidFill>
                <a:latin typeface="Arial MT"/>
                <a:cs typeface="Arial MT"/>
              </a:rPr>
              <a:t>the</a:t>
            </a:r>
            <a:r>
              <a:rPr sz="2550" spc="160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94F70"/>
                </a:solidFill>
                <a:latin typeface="Arial MT"/>
                <a:cs typeface="Arial MT"/>
              </a:rPr>
              <a:t>actual</a:t>
            </a:r>
            <a:r>
              <a:rPr sz="2550" spc="235" dirty="0">
                <a:solidFill>
                  <a:srgbClr val="494F70"/>
                </a:solidFill>
                <a:latin typeface="Arial MT"/>
                <a:cs typeface="Arial MT"/>
              </a:rPr>
              <a:t> </a:t>
            </a:r>
            <a:r>
              <a:rPr sz="2550" spc="60" dirty="0">
                <a:solidFill>
                  <a:srgbClr val="3D3D3D"/>
                </a:solidFill>
                <a:latin typeface="Arial MT"/>
                <a:cs typeface="Arial MT"/>
              </a:rPr>
              <a:t>vulnerabilities</a:t>
            </a:r>
            <a:r>
              <a:rPr sz="2550" spc="120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464646"/>
                </a:solidFill>
                <a:latin typeface="Arial MT"/>
                <a:cs typeface="Arial MT"/>
              </a:rPr>
              <a:t>demonstrated</a:t>
            </a:r>
            <a:r>
              <a:rPr sz="2550" dirty="0">
                <a:solidFill>
                  <a:srgbClr val="464646"/>
                </a:solidFill>
                <a:latin typeface="Arial MT"/>
                <a:cs typeface="Arial MT"/>
              </a:rPr>
              <a:t>	</a:t>
            </a:r>
            <a:r>
              <a:rPr sz="2550" dirty="0">
                <a:solidFill>
                  <a:srgbClr val="445264"/>
                </a:solidFill>
                <a:latin typeface="Arial MT"/>
                <a:cs typeface="Arial MT"/>
              </a:rPr>
              <a:t>in</a:t>
            </a:r>
            <a:r>
              <a:rPr sz="2550" spc="80" dirty="0">
                <a:solidFill>
                  <a:srgbClr val="445264"/>
                </a:solidFill>
                <a:latin typeface="Arial MT"/>
                <a:cs typeface="Arial MT"/>
              </a:rPr>
              <a:t> </a:t>
            </a:r>
            <a:r>
              <a:rPr sz="2550" spc="75" dirty="0">
                <a:solidFill>
                  <a:srgbClr val="464646"/>
                </a:solidFill>
                <a:latin typeface="Arial MT"/>
                <a:cs typeface="Arial MT"/>
              </a:rPr>
              <a:t>the</a:t>
            </a:r>
            <a:r>
              <a:rPr sz="2550" spc="229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545454"/>
                </a:solidFill>
                <a:latin typeface="Arial MT"/>
                <a:cs typeface="Arial MT"/>
              </a:rPr>
              <a:t>initial</a:t>
            </a:r>
            <a:r>
              <a:rPr sz="2550" spc="370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2550" spc="40" dirty="0">
                <a:solidFill>
                  <a:srgbClr val="3D3D3D"/>
                </a:solidFill>
                <a:latin typeface="Arial MT"/>
                <a:cs typeface="Arial MT"/>
              </a:rPr>
              <a:t>security </a:t>
            </a:r>
            <a:r>
              <a:rPr sz="2550" spc="-10" dirty="0">
                <a:solidFill>
                  <a:srgbClr val="4B4B4B"/>
                </a:solidFill>
                <a:latin typeface="Arial MT"/>
                <a:cs typeface="Arial MT"/>
              </a:rPr>
              <a:t>audit.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35"/>
              </a:spcBef>
              <a:tabLst>
                <a:tab pos="426084" algn="l"/>
              </a:tabLst>
            </a:pPr>
            <a:r>
              <a:rPr sz="5550" spc="-75" baseline="-10510" dirty="0">
                <a:solidFill>
                  <a:srgbClr val="3385F4"/>
                </a:solidFill>
              </a:rPr>
              <a:t>I</a:t>
            </a:r>
            <a:r>
              <a:rPr sz="5550" baseline="-10510" dirty="0">
                <a:solidFill>
                  <a:srgbClr val="3385F4"/>
                </a:solidFill>
              </a:rPr>
              <a:t>	</a:t>
            </a:r>
            <a:r>
              <a:rPr sz="3700" spc="145" dirty="0"/>
              <a:t>Documentation</a:t>
            </a:r>
            <a:r>
              <a:rPr sz="3700" spc="195" dirty="0"/>
              <a:t> </a:t>
            </a:r>
            <a:r>
              <a:rPr sz="3700" dirty="0">
                <a:solidFill>
                  <a:srgbClr val="2A2A2A"/>
                </a:solidFill>
              </a:rPr>
              <a:t>&amp;</a:t>
            </a:r>
            <a:r>
              <a:rPr sz="3700" spc="-150" dirty="0">
                <a:solidFill>
                  <a:srgbClr val="2A2A2A"/>
                </a:solidFill>
              </a:rPr>
              <a:t> </a:t>
            </a:r>
            <a:r>
              <a:rPr sz="3700" spc="105" dirty="0"/>
              <a:t>Best</a:t>
            </a:r>
            <a:r>
              <a:rPr sz="3700" spc="-15" dirty="0"/>
              <a:t> </a:t>
            </a:r>
            <a:r>
              <a:rPr sz="3700" spc="70" dirty="0"/>
              <a:t>Practices</a:t>
            </a:r>
            <a:endParaRPr sz="3700"/>
          </a:p>
          <a:p>
            <a:pPr marL="140970">
              <a:lnSpc>
                <a:spcPct val="100000"/>
              </a:lnSpc>
              <a:spcBef>
                <a:spcPts val="2710"/>
              </a:spcBef>
            </a:pPr>
            <a:r>
              <a:rPr sz="2550" dirty="0">
                <a:solidFill>
                  <a:srgbClr val="525252"/>
                </a:solidFill>
              </a:rPr>
              <a:t>The</a:t>
            </a:r>
            <a:r>
              <a:rPr sz="2550" spc="275" dirty="0">
                <a:solidFill>
                  <a:srgbClr val="525252"/>
                </a:solidFill>
              </a:rPr>
              <a:t> </a:t>
            </a:r>
            <a:r>
              <a:rPr sz="2550" dirty="0">
                <a:solidFill>
                  <a:srgbClr val="494949"/>
                </a:solidFill>
              </a:rPr>
              <a:t>final</a:t>
            </a:r>
            <a:r>
              <a:rPr sz="2550" spc="335" dirty="0">
                <a:solidFill>
                  <a:srgbClr val="494949"/>
                </a:solidFill>
              </a:rPr>
              <a:t> </a:t>
            </a:r>
            <a:r>
              <a:rPr sz="2550" dirty="0">
                <a:solidFill>
                  <a:srgbClr val="4B4B4B"/>
                </a:solidFill>
              </a:rPr>
              <a:t>deliverables</a:t>
            </a:r>
            <a:r>
              <a:rPr sz="2550" spc="535" dirty="0">
                <a:solidFill>
                  <a:srgbClr val="4B4B4B"/>
                </a:solidFill>
              </a:rPr>
              <a:t> </a:t>
            </a:r>
            <a:r>
              <a:rPr sz="2550" dirty="0">
                <a:solidFill>
                  <a:srgbClr val="4D4D4D"/>
                </a:solidFill>
              </a:rPr>
              <a:t>must</a:t>
            </a:r>
            <a:r>
              <a:rPr sz="2550" spc="470" dirty="0">
                <a:solidFill>
                  <a:srgbClr val="4D4D4D"/>
                </a:solidFill>
              </a:rPr>
              <a:t> </a:t>
            </a:r>
            <a:r>
              <a:rPr sz="2550" spc="-10" dirty="0">
                <a:solidFill>
                  <a:srgbClr val="383838"/>
                </a:solidFill>
              </a:rPr>
              <a:t>include:</a:t>
            </a:r>
            <a:endParaRPr sz="2550"/>
          </a:p>
          <a:p>
            <a:pPr marL="684530" marR="55880" indent="-569595">
              <a:lnSpc>
                <a:spcPct val="129299"/>
              </a:lnSpc>
              <a:spcBef>
                <a:spcPts val="2470"/>
              </a:spcBef>
              <a:tabLst>
                <a:tab pos="680720" algn="l"/>
                <a:tab pos="3455670" algn="l"/>
              </a:tabLst>
            </a:pPr>
            <a:r>
              <a:rPr sz="2550" spc="25" dirty="0">
                <a:solidFill>
                  <a:srgbClr val="1FB37E"/>
                </a:solidFill>
              </a:rPr>
              <a:t>@</a:t>
            </a:r>
            <a:r>
              <a:rPr sz="2550" dirty="0">
                <a:solidFill>
                  <a:srgbClr val="1FB37E"/>
                </a:solidFill>
              </a:rPr>
              <a:t>	</a:t>
            </a:r>
            <a:r>
              <a:rPr sz="2550" spc="55" dirty="0">
                <a:solidFill>
                  <a:srgbClr val="3F82EF"/>
                </a:solidFill>
              </a:rPr>
              <a:t>Policy </a:t>
            </a:r>
            <a:r>
              <a:rPr sz="2550" spc="40" dirty="0">
                <a:solidFill>
                  <a:srgbClr val="3687F2"/>
                </a:solidFill>
              </a:rPr>
              <a:t>Document:</a:t>
            </a:r>
            <a:r>
              <a:rPr sz="2550" dirty="0">
                <a:solidFill>
                  <a:srgbClr val="3687F2"/>
                </a:solidFill>
              </a:rPr>
              <a:t>	</a:t>
            </a:r>
            <a:r>
              <a:rPr sz="2550" dirty="0">
                <a:solidFill>
                  <a:srgbClr val="4B4B4B"/>
                </a:solidFill>
              </a:rPr>
              <a:t>Simplified</a:t>
            </a:r>
            <a:r>
              <a:rPr sz="2550" spc="470" dirty="0">
                <a:solidFill>
                  <a:srgbClr val="4B4B4B"/>
                </a:solidFill>
              </a:rPr>
              <a:t> </a:t>
            </a:r>
            <a:r>
              <a:rPr sz="2550" spc="50" dirty="0">
                <a:solidFill>
                  <a:srgbClr val="4B4B4B"/>
                </a:solidFill>
              </a:rPr>
              <a:t>security</a:t>
            </a:r>
            <a:r>
              <a:rPr sz="2550" spc="395" dirty="0">
                <a:solidFill>
                  <a:srgbClr val="4B4B4B"/>
                </a:solidFill>
              </a:rPr>
              <a:t> </a:t>
            </a:r>
            <a:r>
              <a:rPr sz="2550" dirty="0">
                <a:solidFill>
                  <a:srgbClr val="464646"/>
                </a:solidFill>
              </a:rPr>
              <a:t>policy</a:t>
            </a:r>
            <a:r>
              <a:rPr sz="2550" spc="495" dirty="0">
                <a:solidFill>
                  <a:srgbClr val="464646"/>
                </a:solidFill>
              </a:rPr>
              <a:t> </a:t>
            </a:r>
            <a:r>
              <a:rPr sz="2550" spc="-10" dirty="0">
                <a:solidFill>
                  <a:srgbClr val="424242"/>
                </a:solidFill>
              </a:rPr>
              <a:t>(e.g., </a:t>
            </a:r>
            <a:r>
              <a:rPr sz="2550" spc="50" dirty="0">
                <a:solidFill>
                  <a:srgbClr val="4F4F4F"/>
                </a:solidFill>
              </a:rPr>
              <a:t>password</a:t>
            </a:r>
            <a:r>
              <a:rPr sz="2550" spc="95" dirty="0">
                <a:solidFill>
                  <a:srgbClr val="4F4F4F"/>
                </a:solidFill>
              </a:rPr>
              <a:t> </a:t>
            </a:r>
            <a:r>
              <a:rPr sz="2550" dirty="0">
                <a:solidFill>
                  <a:srgbClr val="3A526B"/>
                </a:solidFill>
              </a:rPr>
              <a:t>and</a:t>
            </a:r>
            <a:r>
              <a:rPr sz="2550" spc="-60" dirty="0">
                <a:solidFill>
                  <a:srgbClr val="3A526B"/>
                </a:solidFill>
              </a:rPr>
              <a:t> </a:t>
            </a:r>
            <a:r>
              <a:rPr sz="2550" spc="-40" dirty="0">
                <a:solidFill>
                  <a:srgbClr val="494949"/>
                </a:solidFill>
              </a:rPr>
              <a:t>MFA</a:t>
            </a:r>
            <a:r>
              <a:rPr sz="2550" spc="145" dirty="0">
                <a:solidFill>
                  <a:srgbClr val="494949"/>
                </a:solidFill>
              </a:rPr>
              <a:t> </a:t>
            </a:r>
            <a:r>
              <a:rPr sz="2550" spc="-10" dirty="0">
                <a:solidFill>
                  <a:srgbClr val="494949"/>
                </a:solidFill>
              </a:rPr>
              <a:t>mandate).</a:t>
            </a:r>
            <a:endParaRPr sz="2550"/>
          </a:p>
          <a:p>
            <a:pPr marL="686435" marR="351790" indent="-571500">
              <a:lnSpc>
                <a:spcPct val="129299"/>
              </a:lnSpc>
              <a:spcBef>
                <a:spcPts val="1860"/>
              </a:spcBef>
              <a:tabLst>
                <a:tab pos="690880" algn="l"/>
                <a:tab pos="6389370" algn="l"/>
              </a:tabLst>
            </a:pPr>
            <a:r>
              <a:rPr sz="2550" spc="25" dirty="0">
                <a:solidFill>
                  <a:srgbClr val="18BA89"/>
                </a:solidFill>
              </a:rPr>
              <a:t>@</a:t>
            </a:r>
            <a:r>
              <a:rPr sz="2550" dirty="0">
                <a:solidFill>
                  <a:srgbClr val="18BA89"/>
                </a:solidFill>
              </a:rPr>
              <a:t>		</a:t>
            </a:r>
            <a:r>
              <a:rPr sz="2550" spc="70" dirty="0">
                <a:solidFill>
                  <a:srgbClr val="3883F6"/>
                </a:solidFill>
              </a:rPr>
              <a:t>Asset</a:t>
            </a:r>
            <a:r>
              <a:rPr sz="2550" spc="-10" dirty="0">
                <a:solidFill>
                  <a:srgbClr val="3883F6"/>
                </a:solidFill>
              </a:rPr>
              <a:t> </a:t>
            </a:r>
            <a:r>
              <a:rPr sz="2550" spc="50" dirty="0">
                <a:solidFill>
                  <a:srgbClr val="3482EB"/>
                </a:solidFill>
              </a:rPr>
              <a:t>Register:</a:t>
            </a:r>
            <a:r>
              <a:rPr sz="2550" spc="300" dirty="0">
                <a:solidFill>
                  <a:srgbClr val="3482EB"/>
                </a:solidFill>
              </a:rPr>
              <a:t> </a:t>
            </a:r>
            <a:r>
              <a:rPr sz="2550" dirty="0">
                <a:solidFill>
                  <a:srgbClr val="4D6782"/>
                </a:solidFill>
              </a:rPr>
              <a:t>A</a:t>
            </a:r>
            <a:r>
              <a:rPr sz="2550" spc="155" dirty="0">
                <a:solidFill>
                  <a:srgbClr val="4D6782"/>
                </a:solidFill>
              </a:rPr>
              <a:t> </a:t>
            </a:r>
            <a:r>
              <a:rPr sz="2550" dirty="0">
                <a:solidFill>
                  <a:srgbClr val="494949"/>
                </a:solidFill>
              </a:rPr>
              <a:t>list</a:t>
            </a:r>
            <a:r>
              <a:rPr sz="2550" spc="245" dirty="0">
                <a:solidFill>
                  <a:srgbClr val="494949"/>
                </a:solidFill>
              </a:rPr>
              <a:t> </a:t>
            </a:r>
            <a:r>
              <a:rPr sz="2550" dirty="0">
                <a:solidFill>
                  <a:srgbClr val="4F4F4F"/>
                </a:solidFill>
              </a:rPr>
              <a:t>of</a:t>
            </a:r>
            <a:r>
              <a:rPr sz="2550" spc="200" dirty="0">
                <a:solidFill>
                  <a:srgbClr val="4F4F4F"/>
                </a:solidFill>
              </a:rPr>
              <a:t> </a:t>
            </a:r>
            <a:r>
              <a:rPr sz="2550" dirty="0">
                <a:solidFill>
                  <a:srgbClr val="4F4F4F"/>
                </a:solidFill>
              </a:rPr>
              <a:t>all</a:t>
            </a:r>
            <a:r>
              <a:rPr sz="2550" spc="114" dirty="0">
                <a:solidFill>
                  <a:srgbClr val="4F4F4F"/>
                </a:solidFill>
              </a:rPr>
              <a:t> </a:t>
            </a:r>
            <a:r>
              <a:rPr sz="2550" spc="-10" dirty="0">
                <a:solidFill>
                  <a:srgbClr val="4B4B4B"/>
                </a:solidFill>
              </a:rPr>
              <a:t>hardware,</a:t>
            </a:r>
            <a:r>
              <a:rPr sz="2550" dirty="0">
                <a:solidFill>
                  <a:srgbClr val="4B4B4B"/>
                </a:solidFill>
              </a:rPr>
              <a:t>	</a:t>
            </a:r>
            <a:r>
              <a:rPr sz="2550" spc="-10" dirty="0">
                <a:solidFill>
                  <a:srgbClr val="4D4D4D"/>
                </a:solidFill>
              </a:rPr>
              <a:t>software, </a:t>
            </a:r>
            <a:r>
              <a:rPr sz="2550" dirty="0">
                <a:solidFill>
                  <a:srgbClr val="3A596E"/>
                </a:solidFill>
              </a:rPr>
              <a:t>and</a:t>
            </a:r>
            <a:r>
              <a:rPr sz="2550" spc="40" dirty="0">
                <a:solidFill>
                  <a:srgbClr val="3A596E"/>
                </a:solidFill>
              </a:rPr>
              <a:t> </a:t>
            </a:r>
            <a:r>
              <a:rPr sz="2550" dirty="0">
                <a:solidFill>
                  <a:srgbClr val="4F4F4F"/>
                </a:solidFill>
              </a:rPr>
              <a:t>data</a:t>
            </a:r>
            <a:r>
              <a:rPr sz="2550" spc="160" dirty="0">
                <a:solidFill>
                  <a:srgbClr val="4F4F4F"/>
                </a:solidFill>
              </a:rPr>
              <a:t> </a:t>
            </a:r>
            <a:r>
              <a:rPr sz="2550" spc="-10" dirty="0">
                <a:solidFill>
                  <a:srgbClr val="494949"/>
                </a:solidFill>
              </a:rPr>
              <a:t>locations.</a:t>
            </a:r>
            <a:endParaRPr sz="2550"/>
          </a:p>
          <a:p>
            <a:pPr marL="684530" marR="416559" indent="-569595">
              <a:lnSpc>
                <a:spcPct val="129299"/>
              </a:lnSpc>
              <a:spcBef>
                <a:spcPts val="1855"/>
              </a:spcBef>
              <a:tabLst>
                <a:tab pos="690880" algn="l"/>
                <a:tab pos="2266315" algn="l"/>
                <a:tab pos="2362200" algn="l"/>
                <a:tab pos="4083685" algn="l"/>
              </a:tabLst>
            </a:pPr>
            <a:r>
              <a:rPr sz="2550" spc="25" dirty="0">
                <a:solidFill>
                  <a:srgbClr val="13B683"/>
                </a:solidFill>
              </a:rPr>
              <a:t>@</a:t>
            </a:r>
            <a:r>
              <a:rPr sz="2550" dirty="0">
                <a:solidFill>
                  <a:srgbClr val="13B683"/>
                </a:solidFill>
              </a:rPr>
              <a:t>		</a:t>
            </a:r>
            <a:r>
              <a:rPr sz="2550" spc="65" dirty="0">
                <a:solidFill>
                  <a:srgbClr val="348CF2"/>
                </a:solidFill>
              </a:rPr>
              <a:t>Actionable</a:t>
            </a:r>
            <a:r>
              <a:rPr sz="2550" spc="190" dirty="0">
                <a:solidFill>
                  <a:srgbClr val="348CF2"/>
                </a:solidFill>
              </a:rPr>
              <a:t> </a:t>
            </a:r>
            <a:r>
              <a:rPr sz="2550" spc="-10" dirty="0">
                <a:solidFill>
                  <a:srgbClr val="3880F9"/>
                </a:solidFill>
              </a:rPr>
              <a:t>Roadmap:</a:t>
            </a:r>
            <a:r>
              <a:rPr sz="2550" dirty="0">
                <a:solidFill>
                  <a:srgbClr val="3880F9"/>
                </a:solidFill>
              </a:rPr>
              <a:t>	</a:t>
            </a:r>
            <a:r>
              <a:rPr sz="2550" dirty="0">
                <a:solidFill>
                  <a:srgbClr val="494949"/>
                </a:solidFill>
              </a:rPr>
              <a:t>A</a:t>
            </a:r>
            <a:r>
              <a:rPr sz="2550" spc="140" dirty="0">
                <a:solidFill>
                  <a:srgbClr val="494949"/>
                </a:solidFill>
              </a:rPr>
              <a:t> </a:t>
            </a:r>
            <a:r>
              <a:rPr sz="2550" spc="65" dirty="0">
                <a:solidFill>
                  <a:srgbClr val="444444"/>
                </a:solidFill>
              </a:rPr>
              <a:t>prioritized</a:t>
            </a:r>
            <a:r>
              <a:rPr sz="2550" spc="190" dirty="0">
                <a:solidFill>
                  <a:srgbClr val="444444"/>
                </a:solidFill>
              </a:rPr>
              <a:t> </a:t>
            </a:r>
            <a:r>
              <a:rPr sz="2550" dirty="0">
                <a:solidFill>
                  <a:srgbClr val="4D4D4D"/>
                </a:solidFill>
              </a:rPr>
              <a:t>list</a:t>
            </a:r>
            <a:r>
              <a:rPr sz="2550" spc="245" dirty="0">
                <a:solidFill>
                  <a:srgbClr val="4D4D4D"/>
                </a:solidFill>
              </a:rPr>
              <a:t> </a:t>
            </a:r>
            <a:r>
              <a:rPr sz="2550" spc="-25" dirty="0">
                <a:solidFill>
                  <a:srgbClr val="485462"/>
                </a:solidFill>
              </a:rPr>
              <a:t>of </a:t>
            </a:r>
            <a:r>
              <a:rPr sz="2550" spc="-10" dirty="0">
                <a:solidFill>
                  <a:srgbClr val="4B4B4B"/>
                </a:solidFill>
              </a:rPr>
              <a:t>mitigation</a:t>
            </a:r>
            <a:r>
              <a:rPr sz="2550" dirty="0">
                <a:solidFill>
                  <a:srgbClr val="4B4B4B"/>
                </a:solidFill>
              </a:rPr>
              <a:t>	</a:t>
            </a:r>
            <a:r>
              <a:rPr sz="2550" dirty="0">
                <a:solidFill>
                  <a:srgbClr val="494949"/>
                </a:solidFill>
              </a:rPr>
              <a:t>steps</a:t>
            </a:r>
            <a:r>
              <a:rPr sz="2550" spc="295" dirty="0">
                <a:solidFill>
                  <a:srgbClr val="494949"/>
                </a:solidFill>
              </a:rPr>
              <a:t> </a:t>
            </a:r>
            <a:r>
              <a:rPr sz="2550" dirty="0">
                <a:solidFill>
                  <a:srgbClr val="4B4B4B"/>
                </a:solidFill>
              </a:rPr>
              <a:t>based</a:t>
            </a:r>
            <a:r>
              <a:rPr sz="2550" spc="165" dirty="0">
                <a:solidFill>
                  <a:srgbClr val="4B4B4B"/>
                </a:solidFill>
              </a:rPr>
              <a:t> </a:t>
            </a:r>
            <a:r>
              <a:rPr sz="2550" dirty="0">
                <a:solidFill>
                  <a:srgbClr val="4B4B4B"/>
                </a:solidFill>
              </a:rPr>
              <a:t>on</a:t>
            </a:r>
            <a:r>
              <a:rPr sz="2550" spc="70" dirty="0">
                <a:solidFill>
                  <a:srgbClr val="4B4B4B"/>
                </a:solidFill>
              </a:rPr>
              <a:t> </a:t>
            </a:r>
            <a:r>
              <a:rPr sz="2550" spc="75" dirty="0">
                <a:solidFill>
                  <a:srgbClr val="494949"/>
                </a:solidFill>
              </a:rPr>
              <a:t>the</a:t>
            </a:r>
            <a:r>
              <a:rPr sz="2550" spc="125" dirty="0">
                <a:solidFill>
                  <a:srgbClr val="494949"/>
                </a:solidFill>
              </a:rPr>
              <a:t> </a:t>
            </a:r>
            <a:r>
              <a:rPr sz="2550" dirty="0">
                <a:solidFill>
                  <a:srgbClr val="464646"/>
                </a:solidFill>
              </a:rPr>
              <a:t>Risk</a:t>
            </a:r>
            <a:r>
              <a:rPr sz="2550" spc="290" dirty="0">
                <a:solidFill>
                  <a:srgbClr val="464646"/>
                </a:solidFill>
              </a:rPr>
              <a:t> </a:t>
            </a:r>
            <a:r>
              <a:rPr sz="2550" dirty="0">
                <a:solidFill>
                  <a:srgbClr val="424242"/>
                </a:solidFill>
              </a:rPr>
              <a:t>Score</a:t>
            </a:r>
            <a:r>
              <a:rPr sz="2550" spc="280" dirty="0">
                <a:solidFill>
                  <a:srgbClr val="424242"/>
                </a:solidFill>
              </a:rPr>
              <a:t> </a:t>
            </a:r>
            <a:r>
              <a:rPr sz="2550" spc="-10" dirty="0">
                <a:solidFill>
                  <a:srgbClr val="3D3D3D"/>
                </a:solidFill>
              </a:rPr>
              <a:t>(e.g., </a:t>
            </a:r>
            <a:r>
              <a:rPr sz="2550" spc="-10" dirty="0">
                <a:solidFill>
                  <a:srgbClr val="494949"/>
                </a:solidFill>
              </a:rPr>
              <a:t>implement</a:t>
            </a:r>
            <a:r>
              <a:rPr sz="2550" dirty="0">
                <a:solidFill>
                  <a:srgbClr val="494949"/>
                </a:solidFill>
              </a:rPr>
              <a:t>		</a:t>
            </a:r>
            <a:r>
              <a:rPr sz="2550" spc="-45" dirty="0">
                <a:solidFill>
                  <a:srgbClr val="465262"/>
                </a:solidFill>
              </a:rPr>
              <a:t>MFA</a:t>
            </a:r>
            <a:r>
              <a:rPr sz="2550" spc="-100" dirty="0">
                <a:solidFill>
                  <a:srgbClr val="465262"/>
                </a:solidFill>
              </a:rPr>
              <a:t> </a:t>
            </a:r>
            <a:r>
              <a:rPr sz="2550" spc="65" dirty="0">
                <a:solidFill>
                  <a:srgbClr val="484848"/>
                </a:solidFill>
              </a:rPr>
              <a:t>first).</a:t>
            </a:r>
            <a:endParaRPr sz="2550"/>
          </a:p>
          <a:p>
            <a:pPr marL="685165" marR="539115" indent="-570230">
              <a:lnSpc>
                <a:spcPct val="129299"/>
              </a:lnSpc>
              <a:spcBef>
                <a:spcPts val="1855"/>
              </a:spcBef>
              <a:tabLst>
                <a:tab pos="675640" algn="l"/>
              </a:tabLst>
            </a:pPr>
            <a:r>
              <a:rPr sz="2550" spc="25" dirty="0">
                <a:solidFill>
                  <a:srgbClr val="0EB883"/>
                </a:solidFill>
              </a:rPr>
              <a:t>@</a:t>
            </a:r>
            <a:r>
              <a:rPr sz="2550" dirty="0">
                <a:solidFill>
                  <a:srgbClr val="0EB883"/>
                </a:solidFill>
              </a:rPr>
              <a:t>	</a:t>
            </a:r>
            <a:r>
              <a:rPr sz="2550" spc="80" dirty="0">
                <a:solidFill>
                  <a:srgbClr val="347EF6"/>
                </a:solidFill>
              </a:rPr>
              <a:t>Incident</a:t>
            </a:r>
            <a:r>
              <a:rPr sz="2550" spc="110" dirty="0">
                <a:solidFill>
                  <a:srgbClr val="347EF6"/>
                </a:solidFill>
              </a:rPr>
              <a:t> </a:t>
            </a:r>
            <a:r>
              <a:rPr sz="2550" dirty="0">
                <a:solidFill>
                  <a:srgbClr val="3180F6"/>
                </a:solidFill>
              </a:rPr>
              <a:t>Response</a:t>
            </a:r>
            <a:r>
              <a:rPr sz="2550" spc="120" dirty="0">
                <a:solidFill>
                  <a:srgbClr val="3180F6"/>
                </a:solidFill>
              </a:rPr>
              <a:t> </a:t>
            </a:r>
            <a:r>
              <a:rPr sz="2550" dirty="0">
                <a:solidFill>
                  <a:srgbClr val="3F82F2"/>
                </a:solidFill>
              </a:rPr>
              <a:t>Plan:</a:t>
            </a:r>
            <a:r>
              <a:rPr sz="2550" spc="300" dirty="0">
                <a:solidFill>
                  <a:srgbClr val="3F82F2"/>
                </a:solidFill>
              </a:rPr>
              <a:t> </a:t>
            </a:r>
            <a:r>
              <a:rPr sz="2550" dirty="0">
                <a:solidFill>
                  <a:srgbClr val="4F5B6B"/>
                </a:solidFill>
              </a:rPr>
              <a:t>A</a:t>
            </a:r>
            <a:r>
              <a:rPr sz="2550" spc="204" dirty="0">
                <a:solidFill>
                  <a:srgbClr val="4F5B6B"/>
                </a:solidFill>
              </a:rPr>
              <a:t> </a:t>
            </a:r>
            <a:r>
              <a:rPr sz="2550" dirty="0">
                <a:solidFill>
                  <a:srgbClr val="484848"/>
                </a:solidFill>
              </a:rPr>
              <a:t>basic</a:t>
            </a:r>
            <a:r>
              <a:rPr sz="2550" spc="350" dirty="0">
                <a:solidFill>
                  <a:srgbClr val="484848"/>
                </a:solidFill>
              </a:rPr>
              <a:t> </a:t>
            </a:r>
            <a:r>
              <a:rPr sz="2550" spc="70" dirty="0">
                <a:solidFill>
                  <a:srgbClr val="464646"/>
                </a:solidFill>
              </a:rPr>
              <a:t>step-</a:t>
            </a:r>
            <a:r>
              <a:rPr sz="2550" spc="75" dirty="0">
                <a:solidFill>
                  <a:srgbClr val="464646"/>
                </a:solidFill>
              </a:rPr>
              <a:t>by-</a:t>
            </a:r>
            <a:r>
              <a:rPr sz="2550" spc="55" dirty="0">
                <a:solidFill>
                  <a:srgbClr val="464646"/>
                </a:solidFill>
              </a:rPr>
              <a:t>step </a:t>
            </a:r>
            <a:r>
              <a:rPr sz="2550" dirty="0">
                <a:solidFill>
                  <a:srgbClr val="4F4F4F"/>
                </a:solidFill>
              </a:rPr>
              <a:t>guide</a:t>
            </a:r>
            <a:r>
              <a:rPr sz="2550" spc="165" dirty="0">
                <a:solidFill>
                  <a:srgbClr val="4F4F4F"/>
                </a:solidFill>
              </a:rPr>
              <a:t> </a:t>
            </a:r>
            <a:r>
              <a:rPr sz="2550" dirty="0">
                <a:solidFill>
                  <a:srgbClr val="494949"/>
                </a:solidFill>
              </a:rPr>
              <a:t>for</a:t>
            </a:r>
            <a:r>
              <a:rPr sz="2550" spc="365" dirty="0">
                <a:solidFill>
                  <a:srgbClr val="494949"/>
                </a:solidFill>
              </a:rPr>
              <a:t> </a:t>
            </a:r>
            <a:r>
              <a:rPr sz="2550" dirty="0">
                <a:solidFill>
                  <a:srgbClr val="4D4D4D"/>
                </a:solidFill>
              </a:rPr>
              <a:t>what</a:t>
            </a:r>
            <a:r>
              <a:rPr sz="2550" spc="245" dirty="0">
                <a:solidFill>
                  <a:srgbClr val="4D4D4D"/>
                </a:solidFill>
              </a:rPr>
              <a:t> </a:t>
            </a:r>
            <a:r>
              <a:rPr sz="2550" spc="100" dirty="0">
                <a:solidFill>
                  <a:srgbClr val="4B4B4B"/>
                </a:solidFill>
              </a:rPr>
              <a:t>to</a:t>
            </a:r>
            <a:r>
              <a:rPr sz="2550" spc="130" dirty="0">
                <a:solidFill>
                  <a:srgbClr val="4B4B4B"/>
                </a:solidFill>
              </a:rPr>
              <a:t> </a:t>
            </a:r>
            <a:r>
              <a:rPr sz="2550" dirty="0">
                <a:solidFill>
                  <a:srgbClr val="494949"/>
                </a:solidFill>
              </a:rPr>
              <a:t>do</a:t>
            </a:r>
            <a:r>
              <a:rPr sz="2550" spc="175" dirty="0">
                <a:solidFill>
                  <a:srgbClr val="494949"/>
                </a:solidFill>
              </a:rPr>
              <a:t> </a:t>
            </a:r>
            <a:r>
              <a:rPr sz="2550" spc="50" dirty="0">
                <a:solidFill>
                  <a:srgbClr val="4F4F4F"/>
                </a:solidFill>
              </a:rPr>
              <a:t>during</a:t>
            </a:r>
            <a:r>
              <a:rPr sz="2550" spc="135" dirty="0">
                <a:solidFill>
                  <a:srgbClr val="4F4F4F"/>
                </a:solidFill>
              </a:rPr>
              <a:t> </a:t>
            </a:r>
            <a:r>
              <a:rPr sz="2550" dirty="0">
                <a:solidFill>
                  <a:srgbClr val="3F5977"/>
                </a:solidFill>
              </a:rPr>
              <a:t>a</a:t>
            </a:r>
            <a:r>
              <a:rPr sz="2550" spc="125" dirty="0">
                <a:solidFill>
                  <a:srgbClr val="3F5977"/>
                </a:solidFill>
              </a:rPr>
              <a:t> </a:t>
            </a:r>
            <a:r>
              <a:rPr sz="2550" dirty="0">
                <a:solidFill>
                  <a:srgbClr val="484848"/>
                </a:solidFill>
              </a:rPr>
              <a:t>breach</a:t>
            </a:r>
            <a:r>
              <a:rPr sz="2550" spc="275" dirty="0">
                <a:solidFill>
                  <a:srgbClr val="484848"/>
                </a:solidFill>
              </a:rPr>
              <a:t> </a:t>
            </a:r>
            <a:r>
              <a:rPr sz="2550" spc="-25" dirty="0">
                <a:solidFill>
                  <a:srgbClr val="4B5667"/>
                </a:solidFill>
              </a:rPr>
              <a:t>or </a:t>
            </a:r>
            <a:r>
              <a:rPr sz="2550" dirty="0">
                <a:solidFill>
                  <a:srgbClr val="484848"/>
                </a:solidFill>
              </a:rPr>
              <a:t>ransomware</a:t>
            </a:r>
            <a:r>
              <a:rPr sz="2550" spc="-20" dirty="0">
                <a:solidFill>
                  <a:srgbClr val="484848"/>
                </a:solidFill>
              </a:rPr>
              <a:t>  </a:t>
            </a:r>
            <a:r>
              <a:rPr sz="2550" spc="-10" dirty="0">
                <a:solidFill>
                  <a:srgbClr val="464646"/>
                </a:solidFill>
              </a:rPr>
              <a:t>attack.</a:t>
            </a:r>
            <a:endParaRPr sz="25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5137" y="192790"/>
            <a:ext cx="9856470" cy="929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900" b="0" spc="215" dirty="0">
                <a:solidFill>
                  <a:srgbClr val="1A3B82"/>
                </a:solidFill>
                <a:latin typeface="Arial MT"/>
                <a:cs typeface="Arial MT"/>
              </a:rPr>
              <a:t>Summary</a:t>
            </a:r>
            <a:r>
              <a:rPr sz="5900" b="0" spc="-5" dirty="0">
                <a:solidFill>
                  <a:srgbClr val="1A3B82"/>
                </a:solidFill>
                <a:latin typeface="Arial MT"/>
                <a:cs typeface="Arial MT"/>
              </a:rPr>
              <a:t> </a:t>
            </a:r>
            <a:r>
              <a:rPr sz="5900" b="0" spc="254" dirty="0">
                <a:solidFill>
                  <a:srgbClr val="163B8C"/>
                </a:solidFill>
                <a:latin typeface="Arial MT"/>
                <a:cs typeface="Arial MT"/>
              </a:rPr>
              <a:t>and</a:t>
            </a:r>
            <a:r>
              <a:rPr sz="5900" b="0" spc="-335" dirty="0">
                <a:solidFill>
                  <a:srgbClr val="163B8C"/>
                </a:solidFill>
                <a:latin typeface="Arial MT"/>
                <a:cs typeface="Arial MT"/>
              </a:rPr>
              <a:t> </a:t>
            </a:r>
            <a:r>
              <a:rPr sz="5900" b="0" spc="220" dirty="0">
                <a:solidFill>
                  <a:srgbClr val="183B90"/>
                </a:solidFill>
                <a:latin typeface="Arial MT"/>
                <a:cs typeface="Arial MT"/>
              </a:rPr>
              <a:t>Future</a:t>
            </a:r>
            <a:r>
              <a:rPr sz="5900" b="0" spc="-120" dirty="0">
                <a:solidFill>
                  <a:srgbClr val="183B90"/>
                </a:solidFill>
                <a:latin typeface="Arial MT"/>
                <a:cs typeface="Arial MT"/>
              </a:rPr>
              <a:t> </a:t>
            </a:r>
            <a:r>
              <a:rPr sz="5900" b="0" spc="114" dirty="0">
                <a:solidFill>
                  <a:srgbClr val="1A3D87"/>
                </a:solidFill>
                <a:latin typeface="Arial MT"/>
                <a:cs typeface="Arial MT"/>
              </a:rPr>
              <a:t>Vision</a:t>
            </a:r>
            <a:endParaRPr sz="59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02505" y="1979385"/>
            <a:ext cx="14081760" cy="2881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6985" algn="ctr">
              <a:lnSpc>
                <a:spcPct val="100000"/>
              </a:lnSpc>
              <a:spcBef>
                <a:spcPts val="105"/>
              </a:spcBef>
            </a:pPr>
            <a:r>
              <a:rPr sz="3600" spc="120" dirty="0">
                <a:solidFill>
                  <a:srgbClr val="1A3A97"/>
                </a:solidFill>
                <a:latin typeface="Arial MT"/>
                <a:cs typeface="Arial MT"/>
              </a:rPr>
              <a:t>The</a:t>
            </a:r>
            <a:r>
              <a:rPr sz="3600" spc="-140" dirty="0">
                <a:solidFill>
                  <a:srgbClr val="1A3A97"/>
                </a:solidFill>
                <a:latin typeface="Arial MT"/>
                <a:cs typeface="Arial MT"/>
              </a:rPr>
              <a:t> </a:t>
            </a:r>
            <a:r>
              <a:rPr sz="3600" spc="235" dirty="0">
                <a:solidFill>
                  <a:srgbClr val="1A3893"/>
                </a:solidFill>
                <a:latin typeface="Arial MT"/>
                <a:cs typeface="Arial MT"/>
              </a:rPr>
              <a:t>Path</a:t>
            </a:r>
            <a:r>
              <a:rPr sz="3600" spc="-225" dirty="0">
                <a:solidFill>
                  <a:srgbClr val="1A3893"/>
                </a:solidFill>
                <a:latin typeface="Arial MT"/>
                <a:cs typeface="Arial MT"/>
              </a:rPr>
              <a:t> </a:t>
            </a:r>
            <a:r>
              <a:rPr sz="3600" spc="190" dirty="0">
                <a:solidFill>
                  <a:srgbClr val="1A3B89"/>
                </a:solidFill>
                <a:latin typeface="Arial MT"/>
                <a:cs typeface="Arial MT"/>
              </a:rPr>
              <a:t>to</a:t>
            </a:r>
            <a:r>
              <a:rPr sz="3600" spc="114" dirty="0">
                <a:solidFill>
                  <a:srgbClr val="1A3B89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213D85"/>
                </a:solidFill>
                <a:latin typeface="Arial MT"/>
                <a:cs typeface="Arial MT"/>
              </a:rPr>
              <a:t>SME</a:t>
            </a:r>
            <a:r>
              <a:rPr sz="3600" spc="-40" dirty="0">
                <a:solidFill>
                  <a:srgbClr val="213D85"/>
                </a:solidFill>
                <a:latin typeface="Arial MT"/>
                <a:cs typeface="Arial MT"/>
              </a:rPr>
              <a:t> </a:t>
            </a:r>
            <a:r>
              <a:rPr sz="3600" spc="150" dirty="0">
                <a:solidFill>
                  <a:srgbClr val="153489"/>
                </a:solidFill>
                <a:latin typeface="Arial MT"/>
                <a:cs typeface="Arial MT"/>
              </a:rPr>
              <a:t>Cybersecurity</a:t>
            </a:r>
            <a:r>
              <a:rPr sz="3600" spc="180" dirty="0">
                <a:solidFill>
                  <a:srgbClr val="153489"/>
                </a:solidFill>
                <a:latin typeface="Arial MT"/>
                <a:cs typeface="Arial MT"/>
              </a:rPr>
              <a:t> </a:t>
            </a:r>
            <a:r>
              <a:rPr sz="3600" spc="100" dirty="0">
                <a:solidFill>
                  <a:srgbClr val="213899"/>
                </a:solidFill>
                <a:latin typeface="Arial MT"/>
                <a:cs typeface="Arial MT"/>
              </a:rPr>
              <a:t>Resilience</a:t>
            </a:r>
            <a:endParaRPr sz="3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3600">
              <a:latin typeface="Arial MT"/>
              <a:cs typeface="Arial MT"/>
            </a:endParaRPr>
          </a:p>
          <a:p>
            <a:pPr marL="8255" algn="ctr">
              <a:lnSpc>
                <a:spcPct val="100000"/>
              </a:lnSpc>
              <a:spcBef>
                <a:spcPts val="5"/>
              </a:spcBef>
              <a:tabLst>
                <a:tab pos="9340850" algn="l"/>
              </a:tabLst>
            </a:pPr>
            <a:r>
              <a:rPr sz="2550" spc="55" dirty="0">
                <a:solidFill>
                  <a:srgbClr val="444444"/>
                </a:solidFill>
                <a:latin typeface="Arial MT"/>
                <a:cs typeface="Arial MT"/>
              </a:rPr>
              <a:t>Cybersecurity</a:t>
            </a:r>
            <a:r>
              <a:rPr sz="2550" spc="33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B4B4B"/>
                </a:solidFill>
                <a:latin typeface="Arial MT"/>
                <a:cs typeface="Arial MT"/>
              </a:rPr>
              <a:t>for</a:t>
            </a:r>
            <a:r>
              <a:rPr sz="2550" spc="315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550" spc="-45" dirty="0">
                <a:solidFill>
                  <a:srgbClr val="4B4B4B"/>
                </a:solidFill>
                <a:latin typeface="Arial MT"/>
                <a:cs typeface="Arial MT"/>
              </a:rPr>
              <a:t>SMEs</a:t>
            </a:r>
            <a:r>
              <a:rPr sz="2550" spc="204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84848"/>
                </a:solidFill>
                <a:latin typeface="Arial MT"/>
                <a:cs typeface="Arial MT"/>
              </a:rPr>
              <a:t>is</a:t>
            </a:r>
            <a:r>
              <a:rPr sz="2550" spc="160" dirty="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B4B4B"/>
                </a:solidFill>
                <a:latin typeface="Arial MT"/>
                <a:cs typeface="Arial MT"/>
              </a:rPr>
              <a:t>not</a:t>
            </a:r>
            <a:r>
              <a:rPr sz="2550" spc="24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B4B4B"/>
                </a:solidFill>
                <a:latin typeface="Arial MT"/>
                <a:cs typeface="Arial MT"/>
              </a:rPr>
              <a:t>about</a:t>
            </a:r>
            <a:r>
              <a:rPr sz="2550" spc="26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550" spc="50" dirty="0">
                <a:solidFill>
                  <a:srgbClr val="494949"/>
                </a:solidFill>
                <a:latin typeface="Arial MT"/>
                <a:cs typeface="Arial MT"/>
              </a:rPr>
              <a:t>becoming</a:t>
            </a:r>
            <a:r>
              <a:rPr sz="2550" spc="160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494949"/>
                </a:solidFill>
                <a:latin typeface="Arial MT"/>
                <a:cs typeface="Arial MT"/>
              </a:rPr>
              <a:t>unbreachable,</a:t>
            </a:r>
            <a:r>
              <a:rPr sz="2550" dirty="0">
                <a:solidFill>
                  <a:srgbClr val="494949"/>
                </a:solidFill>
                <a:latin typeface="Arial MT"/>
                <a:cs typeface="Arial MT"/>
              </a:rPr>
              <a:t>	</a:t>
            </a:r>
            <a:r>
              <a:rPr sz="2550" dirty="0">
                <a:solidFill>
                  <a:srgbClr val="444444"/>
                </a:solidFill>
                <a:latin typeface="Arial MT"/>
                <a:cs typeface="Arial MT"/>
              </a:rPr>
              <a:t>but</a:t>
            </a:r>
            <a:r>
              <a:rPr sz="2550" spc="28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B4B4B"/>
                </a:solidFill>
                <a:latin typeface="Arial MT"/>
                <a:cs typeface="Arial MT"/>
              </a:rPr>
              <a:t>about</a:t>
            </a:r>
            <a:r>
              <a:rPr sz="2550" spc="305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550" spc="50" dirty="0">
                <a:solidFill>
                  <a:srgbClr val="4B4B4B"/>
                </a:solidFill>
                <a:latin typeface="Arial MT"/>
                <a:cs typeface="Arial MT"/>
              </a:rPr>
              <a:t>becoming</a:t>
            </a:r>
            <a:r>
              <a:rPr sz="2550" spc="21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550" spc="-25" dirty="0">
                <a:solidFill>
                  <a:srgbClr val="3D566E"/>
                </a:solidFill>
                <a:latin typeface="Arial MT"/>
                <a:cs typeface="Arial MT"/>
              </a:rPr>
              <a:t>an</a:t>
            </a:r>
            <a:endParaRPr sz="2550">
              <a:latin typeface="Arial MT"/>
              <a:cs typeface="Arial MT"/>
            </a:endParaRPr>
          </a:p>
          <a:p>
            <a:pPr marL="10160" algn="ctr">
              <a:lnSpc>
                <a:spcPct val="100000"/>
              </a:lnSpc>
              <a:spcBef>
                <a:spcPts val="894"/>
              </a:spcBef>
            </a:pPr>
            <a:r>
              <a:rPr sz="2550" spc="50" dirty="0">
                <a:solidFill>
                  <a:srgbClr val="4B4B4B"/>
                </a:solidFill>
                <a:latin typeface="Arial MT"/>
                <a:cs typeface="Arial MT"/>
              </a:rPr>
              <a:t>**undesirable</a:t>
            </a:r>
            <a:r>
              <a:rPr sz="2550" spc="34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550" spc="100" dirty="0">
                <a:solidFill>
                  <a:srgbClr val="424242"/>
                </a:solidFill>
                <a:latin typeface="Arial MT"/>
                <a:cs typeface="Arial MT"/>
              </a:rPr>
              <a:t>target**</a:t>
            </a:r>
            <a:r>
              <a:rPr sz="2550" spc="32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45664"/>
                </a:solidFill>
                <a:latin typeface="Arial MT"/>
                <a:cs typeface="Arial MT"/>
              </a:rPr>
              <a:t>by</a:t>
            </a:r>
            <a:r>
              <a:rPr sz="2550" spc="190" dirty="0">
                <a:solidFill>
                  <a:srgbClr val="44566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F4F4F"/>
                </a:solidFill>
                <a:latin typeface="Arial MT"/>
                <a:cs typeface="Arial MT"/>
              </a:rPr>
              <a:t>raising</a:t>
            </a:r>
            <a:r>
              <a:rPr sz="2550" spc="125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2550" spc="75" dirty="0">
                <a:solidFill>
                  <a:srgbClr val="4B4B4B"/>
                </a:solidFill>
                <a:latin typeface="Arial MT"/>
                <a:cs typeface="Arial MT"/>
              </a:rPr>
              <a:t>the</a:t>
            </a:r>
            <a:r>
              <a:rPr sz="2550" spc="21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B4B4B"/>
                </a:solidFill>
                <a:latin typeface="Arial MT"/>
                <a:cs typeface="Arial MT"/>
              </a:rPr>
              <a:t>effort</a:t>
            </a:r>
            <a:r>
              <a:rPr sz="2550" spc="36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550" spc="65" dirty="0">
                <a:solidFill>
                  <a:srgbClr val="464646"/>
                </a:solidFill>
                <a:latin typeface="Arial MT"/>
                <a:cs typeface="Arial MT"/>
              </a:rPr>
              <a:t>required</a:t>
            </a:r>
            <a:r>
              <a:rPr sz="2550" spc="1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B4B4B"/>
                </a:solidFill>
                <a:latin typeface="Arial MT"/>
                <a:cs typeface="Arial MT"/>
              </a:rPr>
              <a:t>for</a:t>
            </a:r>
            <a:r>
              <a:rPr sz="2550" spc="335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3D566D"/>
                </a:solidFill>
                <a:latin typeface="Arial MT"/>
                <a:cs typeface="Arial MT"/>
              </a:rPr>
              <a:t>an</a:t>
            </a:r>
            <a:r>
              <a:rPr sz="2550" spc="185" dirty="0">
                <a:solidFill>
                  <a:srgbClr val="3D566D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414141"/>
                </a:solidFill>
                <a:latin typeface="Arial MT"/>
                <a:cs typeface="Arial MT"/>
              </a:rPr>
              <a:t>attack.</a:t>
            </a:r>
            <a:endParaRPr sz="2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25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tabLst>
                <a:tab pos="3595370" algn="l"/>
                <a:tab pos="13913485" algn="l"/>
              </a:tabLst>
            </a:pPr>
            <a:r>
              <a:rPr sz="2550" dirty="0">
                <a:solidFill>
                  <a:srgbClr val="4B4B4B"/>
                </a:solidFill>
                <a:latin typeface="Arial MT"/>
                <a:cs typeface="Arial MT"/>
              </a:rPr>
              <a:t>By</a:t>
            </a:r>
            <a:r>
              <a:rPr sz="2550" spc="7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550" spc="55" dirty="0">
                <a:solidFill>
                  <a:srgbClr val="4B4B4B"/>
                </a:solidFill>
                <a:latin typeface="Arial MT"/>
                <a:cs typeface="Arial MT"/>
              </a:rPr>
              <a:t>implementing</a:t>
            </a:r>
            <a:r>
              <a:rPr sz="2550" spc="16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550" spc="75" dirty="0">
                <a:solidFill>
                  <a:srgbClr val="4B4B4B"/>
                </a:solidFill>
                <a:latin typeface="Arial MT"/>
                <a:cs typeface="Arial MT"/>
              </a:rPr>
              <a:t>the</a:t>
            </a:r>
            <a:r>
              <a:rPr sz="2550" spc="20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550" spc="10" dirty="0">
                <a:solidFill>
                  <a:srgbClr val="3F5062"/>
                </a:solidFill>
                <a:latin typeface="Arial MT"/>
                <a:cs typeface="Arial MT"/>
              </a:rPr>
              <a:t>•</a:t>
            </a:r>
            <a:r>
              <a:rPr sz="2550" dirty="0">
                <a:solidFill>
                  <a:srgbClr val="3F5062"/>
                </a:solidFill>
                <a:latin typeface="Arial MT"/>
                <a:cs typeface="Arial MT"/>
              </a:rPr>
              <a:t>	</a:t>
            </a:r>
            <a:r>
              <a:rPr sz="2550" spc="-10" dirty="0">
                <a:solidFill>
                  <a:srgbClr val="4B4B4B"/>
                </a:solidFill>
                <a:latin typeface="Arial MT"/>
                <a:cs typeface="Arial MT"/>
              </a:rPr>
              <a:t>NIST-</a:t>
            </a:r>
            <a:r>
              <a:rPr sz="2550" dirty="0">
                <a:solidFill>
                  <a:srgbClr val="4B4B4B"/>
                </a:solidFill>
                <a:latin typeface="Arial MT"/>
                <a:cs typeface="Arial MT"/>
              </a:rPr>
              <a:t>based</a:t>
            </a:r>
            <a:r>
              <a:rPr sz="2550" spc="31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550" spc="55" dirty="0">
                <a:solidFill>
                  <a:srgbClr val="525252"/>
                </a:solidFill>
                <a:latin typeface="Arial MT"/>
                <a:cs typeface="Arial MT"/>
              </a:rPr>
              <a:t>framework**,</a:t>
            </a:r>
            <a:r>
              <a:rPr sz="2550" spc="390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2550" spc="60" dirty="0">
                <a:solidFill>
                  <a:srgbClr val="4B4B4B"/>
                </a:solidFill>
                <a:latin typeface="Arial MT"/>
                <a:cs typeface="Arial MT"/>
              </a:rPr>
              <a:t>prioritizing</a:t>
            </a:r>
            <a:r>
              <a:rPr sz="2550" spc="185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550" spc="55" dirty="0">
                <a:solidFill>
                  <a:srgbClr val="424242"/>
                </a:solidFill>
                <a:latin typeface="Arial MT"/>
                <a:cs typeface="Arial MT"/>
              </a:rPr>
              <a:t>threats</a:t>
            </a:r>
            <a:r>
              <a:rPr sz="2550" spc="365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575757"/>
                </a:solidFill>
                <a:latin typeface="Arial MT"/>
                <a:cs typeface="Arial MT"/>
              </a:rPr>
              <a:t>using</a:t>
            </a:r>
            <a:r>
              <a:rPr sz="2550" spc="90" dirty="0">
                <a:solidFill>
                  <a:srgbClr val="575757"/>
                </a:solidFill>
                <a:latin typeface="Arial MT"/>
                <a:cs typeface="Arial MT"/>
              </a:rPr>
              <a:t> </a:t>
            </a:r>
            <a:r>
              <a:rPr sz="2550" spc="75" dirty="0">
                <a:solidFill>
                  <a:srgbClr val="4F4F4F"/>
                </a:solidFill>
                <a:latin typeface="Arial MT"/>
                <a:cs typeface="Arial MT"/>
              </a:rPr>
              <a:t>the</a:t>
            </a:r>
            <a:r>
              <a:rPr sz="2550" spc="270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2550" spc="60" dirty="0">
                <a:solidFill>
                  <a:srgbClr val="465967"/>
                </a:solidFill>
                <a:latin typeface="Arial MT"/>
                <a:cs typeface="Arial MT"/>
              </a:rPr>
              <a:t>•</a:t>
            </a:r>
            <a:r>
              <a:rPr sz="2550" spc="-35" dirty="0">
                <a:solidFill>
                  <a:srgbClr val="465967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494949"/>
                </a:solidFill>
                <a:latin typeface="Arial MT"/>
                <a:cs typeface="Arial MT"/>
              </a:rPr>
              <a:t>+LikeIihood</a:t>
            </a:r>
            <a:r>
              <a:rPr sz="2550" dirty="0">
                <a:solidFill>
                  <a:srgbClr val="494949"/>
                </a:solidFill>
                <a:latin typeface="Arial MT"/>
                <a:cs typeface="Arial MT"/>
              </a:rPr>
              <a:t>	</a:t>
            </a:r>
            <a:r>
              <a:rPr sz="2550" spc="-50" dirty="0">
                <a:solidFill>
                  <a:srgbClr val="34566D"/>
                </a:solidFill>
                <a:latin typeface="Arial MT"/>
                <a:cs typeface="Arial MT"/>
              </a:rPr>
              <a:t>x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03809" y="4945264"/>
            <a:ext cx="4956175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65" dirty="0">
                <a:solidFill>
                  <a:srgbClr val="494949"/>
                </a:solidFill>
                <a:latin typeface="Arial MT"/>
                <a:cs typeface="Arial MT"/>
              </a:rPr>
              <a:t>Impact**</a:t>
            </a:r>
            <a:r>
              <a:rPr sz="2550" spc="445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D4D4D"/>
                </a:solidFill>
                <a:latin typeface="Arial MT"/>
                <a:cs typeface="Arial MT"/>
              </a:rPr>
              <a:t>matrix,</a:t>
            </a:r>
            <a:r>
              <a:rPr sz="2550" spc="440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25064"/>
                </a:solidFill>
                <a:latin typeface="Arial MT"/>
                <a:cs typeface="Arial MT"/>
              </a:rPr>
              <a:t>and</a:t>
            </a:r>
            <a:r>
              <a:rPr sz="2550" spc="140" dirty="0">
                <a:solidFill>
                  <a:srgbClr val="42506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D4D4D"/>
                </a:solidFill>
                <a:latin typeface="Arial MT"/>
                <a:cs typeface="Arial MT"/>
              </a:rPr>
              <a:t>focusing</a:t>
            </a:r>
            <a:r>
              <a:rPr sz="2550" spc="405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2550" spc="-25" dirty="0">
                <a:solidFill>
                  <a:srgbClr val="4B4B4B"/>
                </a:solidFill>
                <a:latin typeface="Arial MT"/>
                <a:cs typeface="Arial MT"/>
              </a:rPr>
              <a:t>on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87459" y="4835319"/>
            <a:ext cx="910018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66700">
              <a:lnSpc>
                <a:spcPct val="129299"/>
              </a:lnSpc>
              <a:spcBef>
                <a:spcPts val="95"/>
              </a:spcBef>
            </a:pPr>
            <a:r>
              <a:rPr sz="2550" spc="-40" dirty="0">
                <a:solidFill>
                  <a:srgbClr val="494949"/>
                </a:solidFill>
                <a:latin typeface="Arial MT"/>
                <a:cs typeface="Arial MT"/>
              </a:rPr>
              <a:t>+MFA</a:t>
            </a:r>
            <a:r>
              <a:rPr sz="2550" spc="330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3F5970"/>
                </a:solidFill>
                <a:latin typeface="Arial MT"/>
                <a:cs typeface="Arial MT"/>
              </a:rPr>
              <a:t>and</a:t>
            </a:r>
            <a:r>
              <a:rPr sz="2550" spc="80" dirty="0">
                <a:solidFill>
                  <a:srgbClr val="3F5970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B4B4B"/>
                </a:solidFill>
                <a:latin typeface="Arial MT"/>
                <a:cs typeface="Arial MT"/>
              </a:rPr>
              <a:t>employee</a:t>
            </a:r>
            <a:r>
              <a:rPr sz="2550" spc="204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D4D4D"/>
                </a:solidFill>
                <a:latin typeface="Arial MT"/>
                <a:cs typeface="Arial MT"/>
              </a:rPr>
              <a:t>training**,</a:t>
            </a:r>
            <a:r>
              <a:rPr sz="2550" spc="325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2550" spc="-40" dirty="0">
                <a:solidFill>
                  <a:srgbClr val="4F4F4F"/>
                </a:solidFill>
                <a:latin typeface="Arial MT"/>
                <a:cs typeface="Arial MT"/>
              </a:rPr>
              <a:t>SMEs</a:t>
            </a:r>
            <a:r>
              <a:rPr sz="2550" spc="290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D4D4D"/>
                </a:solidFill>
                <a:latin typeface="Arial MT"/>
                <a:cs typeface="Arial MT"/>
              </a:rPr>
              <a:t>can</a:t>
            </a:r>
            <a:r>
              <a:rPr sz="2550" spc="150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44444"/>
                </a:solidFill>
                <a:latin typeface="Arial MT"/>
                <a:cs typeface="Arial MT"/>
              </a:rPr>
              <a:t>achieve</a:t>
            </a:r>
            <a:r>
              <a:rPr sz="2550" spc="23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B5964"/>
                </a:solidFill>
                <a:latin typeface="Arial MT"/>
                <a:cs typeface="Arial MT"/>
              </a:rPr>
              <a:t>a</a:t>
            </a:r>
            <a:r>
              <a:rPr sz="2550" spc="220" dirty="0">
                <a:solidFill>
                  <a:srgbClr val="4B5964"/>
                </a:solidFill>
                <a:latin typeface="Arial MT"/>
                <a:cs typeface="Arial MT"/>
              </a:rPr>
              <a:t> </a:t>
            </a:r>
            <a:r>
              <a:rPr sz="2550" spc="55" dirty="0">
                <a:solidFill>
                  <a:srgbClr val="4B4B4B"/>
                </a:solidFill>
                <a:latin typeface="Arial MT"/>
                <a:cs typeface="Arial MT"/>
              </a:rPr>
              <a:t>strong </a:t>
            </a:r>
            <a:r>
              <a:rPr sz="2550" spc="50" dirty="0">
                <a:solidFill>
                  <a:srgbClr val="4B4B4B"/>
                </a:solidFill>
                <a:latin typeface="Arial MT"/>
                <a:cs typeface="Arial MT"/>
              </a:rPr>
              <a:t>security</a:t>
            </a:r>
            <a:r>
              <a:rPr sz="2550" spc="31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550" spc="55" dirty="0">
                <a:solidFill>
                  <a:srgbClr val="4B4B4B"/>
                </a:solidFill>
                <a:latin typeface="Arial MT"/>
                <a:cs typeface="Arial MT"/>
              </a:rPr>
              <a:t>posture</a:t>
            </a:r>
            <a:r>
              <a:rPr sz="2550" spc="29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4F4F4F"/>
                </a:solidFill>
                <a:latin typeface="Arial MT"/>
                <a:cs typeface="Arial MT"/>
              </a:rPr>
              <a:t>affordably.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55018" y="7440607"/>
            <a:ext cx="7371715" cy="4775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950" spc="155" dirty="0">
                <a:solidFill>
                  <a:srgbClr val="08C18C"/>
                </a:solidFill>
                <a:latin typeface="Arial MT"/>
                <a:cs typeface="Arial MT"/>
              </a:rPr>
              <a:t>Start</a:t>
            </a:r>
            <a:r>
              <a:rPr sz="2950" spc="100" dirty="0">
                <a:solidFill>
                  <a:srgbClr val="08C18C"/>
                </a:solidFill>
                <a:latin typeface="Arial MT"/>
                <a:cs typeface="Arial MT"/>
              </a:rPr>
              <a:t> </a:t>
            </a:r>
            <a:r>
              <a:rPr sz="2950" spc="229" dirty="0">
                <a:solidFill>
                  <a:srgbClr val="00BC82"/>
                </a:solidFill>
                <a:latin typeface="Arial MT"/>
                <a:cs typeface="Arial MT"/>
              </a:rPr>
              <a:t>with</a:t>
            </a:r>
            <a:r>
              <a:rPr sz="2950" spc="-20" dirty="0">
                <a:solidFill>
                  <a:srgbClr val="00BC82"/>
                </a:solidFill>
                <a:latin typeface="Arial MT"/>
                <a:cs typeface="Arial MT"/>
              </a:rPr>
              <a:t> </a:t>
            </a:r>
            <a:r>
              <a:rPr sz="2950" spc="240" dirty="0">
                <a:solidFill>
                  <a:srgbClr val="11B68C"/>
                </a:solidFill>
                <a:latin typeface="Arial MT"/>
                <a:cs typeface="Arial MT"/>
              </a:rPr>
              <a:t>the</a:t>
            </a:r>
            <a:r>
              <a:rPr sz="2950" spc="-254" dirty="0">
                <a:solidFill>
                  <a:srgbClr val="11B68C"/>
                </a:solidFill>
                <a:latin typeface="Arial MT"/>
                <a:cs typeface="Arial MT"/>
              </a:rPr>
              <a:t> </a:t>
            </a:r>
            <a:r>
              <a:rPr sz="2950" spc="150" dirty="0">
                <a:solidFill>
                  <a:srgbClr val="16BA87"/>
                </a:solidFill>
                <a:latin typeface="Arial MT"/>
                <a:cs typeface="Arial MT"/>
              </a:rPr>
              <a:t>basics:</a:t>
            </a:r>
            <a:r>
              <a:rPr sz="2950" spc="-25" dirty="0">
                <a:solidFill>
                  <a:srgbClr val="16BA87"/>
                </a:solidFill>
                <a:latin typeface="Arial MT"/>
                <a:cs typeface="Arial MT"/>
              </a:rPr>
              <a:t> </a:t>
            </a:r>
            <a:r>
              <a:rPr sz="2950" dirty="0">
                <a:solidFill>
                  <a:srgbClr val="03BA82"/>
                </a:solidFill>
                <a:latin typeface="Arial MT"/>
                <a:cs typeface="Arial MT"/>
              </a:rPr>
              <a:t>MFA</a:t>
            </a:r>
            <a:r>
              <a:rPr sz="2950" spc="165" dirty="0">
                <a:solidFill>
                  <a:srgbClr val="03BA82"/>
                </a:solidFill>
                <a:latin typeface="Arial MT"/>
                <a:cs typeface="Arial MT"/>
              </a:rPr>
              <a:t> </a:t>
            </a:r>
            <a:r>
              <a:rPr sz="2950" spc="160" dirty="0">
                <a:solidFill>
                  <a:srgbClr val="1ABC90"/>
                </a:solidFill>
                <a:latin typeface="Arial MT"/>
                <a:cs typeface="Arial MT"/>
              </a:rPr>
              <a:t>and</a:t>
            </a:r>
            <a:r>
              <a:rPr sz="2950" spc="-35" dirty="0">
                <a:solidFill>
                  <a:srgbClr val="1ABC90"/>
                </a:solidFill>
                <a:latin typeface="Arial MT"/>
                <a:cs typeface="Arial MT"/>
              </a:rPr>
              <a:t> </a:t>
            </a:r>
            <a:r>
              <a:rPr sz="2950" spc="135" dirty="0">
                <a:solidFill>
                  <a:srgbClr val="0FAC83"/>
                </a:solidFill>
                <a:latin typeface="Arial MT"/>
                <a:cs typeface="Arial MT"/>
              </a:rPr>
              <a:t>Training.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20933" y="9444043"/>
            <a:ext cx="2265045" cy="116332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R="17145" algn="ctr">
              <a:lnSpc>
                <a:spcPct val="100000"/>
              </a:lnSpc>
              <a:spcBef>
                <a:spcPts val="690"/>
              </a:spcBef>
            </a:pPr>
            <a:r>
              <a:rPr sz="2550" spc="-10" dirty="0">
                <a:solidFill>
                  <a:srgbClr val="444444"/>
                </a:solidFill>
                <a:latin typeface="Arial MT"/>
                <a:cs typeface="Arial MT"/>
              </a:rPr>
              <a:t>Questions?</a:t>
            </a:r>
            <a:endParaRPr sz="25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860"/>
              </a:spcBef>
            </a:pPr>
            <a:r>
              <a:rPr sz="3700" dirty="0">
                <a:solidFill>
                  <a:srgbClr val="1D3D93"/>
                </a:solidFill>
                <a:latin typeface="Arial MT"/>
                <a:cs typeface="Arial MT"/>
              </a:rPr>
              <a:t>Thank</a:t>
            </a:r>
            <a:r>
              <a:rPr sz="3700" spc="40" dirty="0">
                <a:solidFill>
                  <a:srgbClr val="1D3D93"/>
                </a:solidFill>
                <a:latin typeface="Arial MT"/>
                <a:cs typeface="Arial MT"/>
              </a:rPr>
              <a:t> </a:t>
            </a:r>
            <a:r>
              <a:rPr sz="3700" spc="-65" dirty="0">
                <a:solidFill>
                  <a:srgbClr val="1A3A8C"/>
                </a:solidFill>
                <a:latin typeface="Arial MT"/>
                <a:cs typeface="Arial MT"/>
              </a:rPr>
              <a:t>You</a:t>
            </a:r>
            <a:endParaRPr sz="3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1015</Words>
  <Application>Microsoft Office PowerPoint</Application>
  <PresentationFormat>Custom</PresentationFormat>
  <Paragraphs>108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Arial MT</vt:lpstr>
      <vt:lpstr>Calibri</vt:lpstr>
      <vt:lpstr>Office Theme</vt:lpstr>
      <vt:lpstr>Cybersecurity Risk</vt:lpstr>
      <vt:lpstr>The Context: Why SMEs are Prime Targets</vt:lpstr>
      <vt:lpstr>We propose using the • +NIST Cybersecurity Framework (CSF) steps, making it ideal for resource-constrained SMEs.</vt:lpstr>
      <vt:lpstr>Risk Evaluation Metric: Likelihood vs. Impact</vt:lpstr>
      <vt:lpstr>Mitigation Strategies: Technical Controls</vt:lpstr>
      <vt:lpstr>Mitigation Strategies: Human &amp; Operational Controls</vt:lpstr>
      <vt:lpstr>Case Study &amp; Documentation: Retail SME</vt:lpstr>
      <vt:lpstr>Summary and Future Vision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VISHVAJIT</dc:creator>
  <cp:lastModifiedBy>vishavajitmadavan15@outlook.com</cp:lastModifiedBy>
  <cp:revision>1</cp:revision>
  <dcterms:created xsi:type="dcterms:W3CDTF">2025-12-04T18:29:18Z</dcterms:created>
  <dcterms:modified xsi:type="dcterms:W3CDTF">2025-12-04T18:30:47Z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2025-12-04T00:00:00Z</vt:filetime>
  </property>
  <property fmtid="{D5CDD505-2E9C-101B-9397-08002B2CF9AE}" pid="3" name="LastSaved">
    <vt:filetime>2025-12-04T00:00:00Z</vt:filetime>
  </property>
</Properties>
</file>